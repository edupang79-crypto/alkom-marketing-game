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9" r:id="rId1"/>
  </p:sldMasterIdLst>
  <p:notesMasterIdLst>
    <p:notesMasterId r:id="rId13"/>
  </p:notesMasterIdLst>
  <p:sldIdLst>
    <p:sldId id="1285" r:id="rId2"/>
    <p:sldId id="1286" r:id="rId3"/>
    <p:sldId id="1287" r:id="rId4"/>
    <p:sldId id="1288" r:id="rId5"/>
    <p:sldId id="1289" r:id="rId6"/>
    <p:sldId id="1290" r:id="rId7"/>
    <p:sldId id="1291" r:id="rId8"/>
    <p:sldId id="1292" r:id="rId9"/>
    <p:sldId id="1293" r:id="rId10"/>
    <p:sldId id="1294" r:id="rId11"/>
    <p:sldId id="129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D3C515C-B418-4FA2-B2E7-568CA6DB0748}">
          <p14:sldIdLst>
            <p14:sldId id="1285"/>
            <p14:sldId id="1286"/>
            <p14:sldId id="1287"/>
            <p14:sldId id="1288"/>
            <p14:sldId id="1289"/>
            <p14:sldId id="1290"/>
            <p14:sldId id="1291"/>
            <p14:sldId id="1292"/>
            <p14:sldId id="1293"/>
            <p14:sldId id="1294"/>
            <p14:sldId id="1295"/>
          </p14:sldIdLst>
        </p14:section>
        <p14:section name="내지템플릿" id="{3037A2AB-4A6B-4C83-8556-AB3EFE8FE7EF}">
          <p14:sldIdLst/>
        </p14:section>
      </p14:sectionLst>
    </p:ext>
    <p:ext uri="{EFAFB233-063F-42B5-8137-9DF3F51BA10A}">
      <p15:sldGuideLst xmlns:p15="http://schemas.microsoft.com/office/powerpoint/2012/main" xmlns="">
        <p15:guide id="1" orient="horz" pos="3906" userDrawn="1">
          <p15:clr>
            <a:srgbClr val="A4A3A4"/>
          </p15:clr>
        </p15:guide>
        <p15:guide id="2" pos="347" userDrawn="1">
          <p15:clr>
            <a:srgbClr val="A4A3A4"/>
          </p15:clr>
        </p15:guide>
        <p15:guide id="3" pos="7333" userDrawn="1">
          <p15:clr>
            <a:srgbClr val="A4A3A4"/>
          </p15:clr>
        </p15:guide>
        <p15:guide id="4" orient="horz" pos="39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1C24"/>
    <a:srgbClr val="EC7100"/>
    <a:srgbClr val="FFCE93"/>
    <a:srgbClr val="1D31A2"/>
    <a:srgbClr val="E60012"/>
    <a:srgbClr val="FCAF17"/>
    <a:srgbClr val="776C61"/>
    <a:srgbClr val="344E78"/>
    <a:srgbClr val="BFD4FF"/>
    <a:srgbClr val="7E9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68" autoAdjust="0"/>
    <p:restoredTop sz="90970" autoAdjust="0"/>
  </p:normalViewPr>
  <p:slideViewPr>
    <p:cSldViewPr>
      <p:cViewPr varScale="1">
        <p:scale>
          <a:sx n="104" d="100"/>
          <a:sy n="104" d="100"/>
        </p:scale>
        <p:origin x="-80" y="-56"/>
      </p:cViewPr>
      <p:guideLst>
        <p:guide orient="horz" pos="3906"/>
        <p:guide orient="horz" pos="3997"/>
        <p:guide pos="347"/>
        <p:guide pos="73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1pPr>
          </a:lstStyle>
          <a:p>
            <a:fld id="{7380F5D7-D9C1-4DB7-9CD7-F0AE3CE0D377}" type="datetimeFigureOut">
              <a:rPr lang="ko-KR" altLang="en-US" smtClean="0"/>
              <a:pPr/>
              <a:t>2026-09-25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1pPr>
          </a:lstStyle>
          <a:p>
            <a:fld id="{E6847827-678D-44C3-90F5-D7FFBBDE4B5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4134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나눔스퀘어 네오 Regular" panose="00000500000000000000" pitchFamily="2" charset="-127"/>
        <a:ea typeface="나눔스퀘어 네오 Regular" panose="000005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나눔스퀘어 네오 Regular" panose="00000500000000000000" pitchFamily="2" charset="-127"/>
        <a:ea typeface="나눔스퀘어 네오 Regular" panose="000005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나눔스퀘어 네오 Regular" panose="00000500000000000000" pitchFamily="2" charset="-127"/>
        <a:ea typeface="나눔스퀘어 네오 Regular" panose="000005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나눔스퀘어 네오 Regular" panose="00000500000000000000" pitchFamily="2" charset="-127"/>
        <a:ea typeface="나눔스퀘어 네오 Regular" panose="000005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나눔스퀘어 네오 Regular" panose="00000500000000000000" pitchFamily="2" charset="-127"/>
        <a:ea typeface="나눔스퀘어 네오 Regular" panose="000005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B11889A0-B5F6-0640-8553-7C639E859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" y="859"/>
            <a:ext cx="12191996" cy="68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56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16B2EE46-C609-A3F2-5E01-DF38E91C23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" y="860"/>
            <a:ext cx="12191994" cy="6857140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xmlns="" id="{017D2532-48B0-C72F-8054-5533D3A8D6AA}"/>
              </a:ext>
            </a:extLst>
          </p:cNvPr>
          <p:cNvSpPr/>
          <p:nvPr userDrawn="1"/>
        </p:nvSpPr>
        <p:spPr>
          <a:xfrm>
            <a:off x="10037775" y="6569948"/>
            <a:ext cx="2153796" cy="230832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algn="r">
              <a:spcBef>
                <a:spcPts val="200"/>
              </a:spcBef>
              <a:defRPr/>
            </a:pPr>
            <a:r>
              <a:rPr lang="en-US" altLang="ko-KR" sz="900" kern="0" spc="20" dirty="0">
                <a:gradFill>
                  <a:gsLst>
                    <a:gs pos="0">
                      <a:schemeClr val="tx1">
                        <a:alpha val="50000"/>
                      </a:schemeClr>
                    </a:gs>
                    <a:gs pos="100000">
                      <a:schemeClr val="tx1">
                        <a:alpha val="50000"/>
                      </a:schemeClr>
                    </a:gs>
                  </a:gsLst>
                  <a:lin ang="5400000" scaled="1"/>
                </a:gradFill>
                <a:latin typeface="나눔스퀘어 네오 Light" panose="00000400000000000000" pitchFamily="2" charset="-127"/>
                <a:ea typeface="나눔스퀘어 네오 Light" panose="00000400000000000000" pitchFamily="2" charset="-127"/>
                <a:cs typeface="맑은 고딕 Semilight" panose="020B0502040204020203" pitchFamily="50" charset="-127"/>
              </a:rPr>
              <a:t>ⓒ Multicampus. All rights reserved.</a:t>
            </a:r>
            <a:endParaRPr lang="en-US" altLang="ko-KR" sz="900" kern="0" spc="20" baseline="0" dirty="0">
              <a:gradFill>
                <a:gsLst>
                  <a:gs pos="0">
                    <a:schemeClr val="tx1">
                      <a:alpha val="50000"/>
                    </a:schemeClr>
                  </a:gs>
                  <a:gs pos="100000">
                    <a:schemeClr val="tx1">
                      <a:alpha val="50000"/>
                    </a:schemeClr>
                  </a:gs>
                </a:gsLst>
                <a:lin ang="5400000" scaled="1"/>
              </a:gradFill>
              <a:latin typeface="나눔스퀘어 네오 Light" panose="00000400000000000000" pitchFamily="2" charset="-127"/>
              <a:ea typeface="나눔스퀘어 네오 Light" panose="00000400000000000000" pitchFamily="2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xmlns="" id="{269049B6-647F-0559-9033-593A99593D50}"/>
              </a:ext>
            </a:extLst>
          </p:cNvPr>
          <p:cNvSpPr/>
          <p:nvPr userDrawn="1"/>
        </p:nvSpPr>
        <p:spPr>
          <a:xfrm>
            <a:off x="447675" y="457201"/>
            <a:ext cx="4532201" cy="4880012"/>
          </a:xfrm>
          <a:prstGeom prst="roundRect">
            <a:avLst>
              <a:gd name="adj" fmla="val 4785"/>
            </a:avLst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6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897392" latinLnBrk="1"/>
            <a:endParaRPr lang="ko-KR" altLang="en-US" sz="1000" kern="0" spc="100" dirty="0">
              <a:gradFill>
                <a:gsLst>
                  <a:gs pos="0">
                    <a:prstClr val="white"/>
                  </a:gs>
                  <a:gs pos="100000">
                    <a:prstClr val="white"/>
                  </a:gs>
                </a:gsLst>
                <a:lin ang="5400000" scaled="1"/>
              </a:gra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457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98C29FC6-0F42-153A-6FAA-C317CC365F17}"/>
              </a:ext>
            </a:extLst>
          </p:cNvPr>
          <p:cNvCxnSpPr>
            <a:cxnSpLocks/>
          </p:cNvCxnSpPr>
          <p:nvPr userDrawn="1"/>
        </p:nvCxnSpPr>
        <p:spPr>
          <a:xfrm>
            <a:off x="379130" y="728776"/>
            <a:ext cx="10801351" cy="0"/>
          </a:xfrm>
          <a:prstGeom prst="line">
            <a:avLst/>
          </a:prstGeom>
          <a:ln w="25400">
            <a:solidFill>
              <a:srgbClr val="ED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xmlns="" id="{5CEE5406-B6BF-E2AE-E4D4-B3B32844766E}"/>
              </a:ext>
            </a:extLst>
          </p:cNvPr>
          <p:cNvCxnSpPr>
            <a:cxnSpLocks/>
          </p:cNvCxnSpPr>
          <p:nvPr userDrawn="1"/>
        </p:nvCxnSpPr>
        <p:spPr>
          <a:xfrm>
            <a:off x="1483577" y="728776"/>
            <a:ext cx="10296000" cy="0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360557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518AC362-637A-4D9D-93B7-5878667ABB67}" type="slidenum">
              <a:rPr lang="ko-KR" altLang="en-US">
                <a:solidFill>
                  <a:prstClr val="black">
                    <a:tint val="75000"/>
                  </a:prstClr>
                </a:solidFill>
              </a:rPr>
              <a:pPr lvl="0">
                <a:defRPr lang="ko-KR" altLang="en-US"/>
              </a:pPr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xmlns="" id="{14F22BCB-CDE0-675C-1DEB-5876615324F9}"/>
              </a:ext>
            </a:extLst>
          </p:cNvPr>
          <p:cNvCxnSpPr>
            <a:cxnSpLocks/>
          </p:cNvCxnSpPr>
          <p:nvPr userDrawn="1"/>
        </p:nvCxnSpPr>
        <p:spPr>
          <a:xfrm>
            <a:off x="379130" y="728776"/>
            <a:ext cx="10801351" cy="0"/>
          </a:xfrm>
          <a:prstGeom prst="line">
            <a:avLst/>
          </a:prstGeom>
          <a:ln w="25400">
            <a:solidFill>
              <a:srgbClr val="ED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xmlns="" id="{A2989D87-D4B7-E406-373C-42DA768A893D}"/>
              </a:ext>
            </a:extLst>
          </p:cNvPr>
          <p:cNvCxnSpPr>
            <a:cxnSpLocks/>
          </p:cNvCxnSpPr>
          <p:nvPr userDrawn="1"/>
        </p:nvCxnSpPr>
        <p:spPr>
          <a:xfrm>
            <a:off x="1483577" y="728776"/>
            <a:ext cx="10296000" cy="0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856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761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7" r:id="rId2"/>
    <p:sldLayoutId id="2147483711" r:id="rId3"/>
    <p:sldLayoutId id="214748371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pos="267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4110" userDrawn="1">
          <p15:clr>
            <a:srgbClr val="F26B43"/>
          </p15:clr>
        </p15:guide>
        <p15:guide id="4" orient="horz" pos="10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①  캠페인 목표와 타깃 정의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주어진 목표를 우리 캠페인의 언어로 다시 쓰고, 타깃을 좁히십시오.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223298"/>
              </p:ext>
            </p:extLst>
          </p:nvPr>
        </p:nvGraphicFramePr>
        <p:xfrm>
          <a:off x="548640" y="1783080"/>
          <a:ext cx="11091672" cy="2423160"/>
        </p:xfrm>
        <a:graphic>
          <a:graphicData uri="http://schemas.openxmlformats.org/drawingml/2006/table">
            <a:tbl>
              <a:tblPr/>
              <a:tblGrid>
                <a:gridCol w="19476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목표 유형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주어진 목표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우리 캠페인의 목표 문장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작년 실적 대비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주 /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신규 고객 확보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인지도 확대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매출 증대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고객 만족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174983"/>
              </p:ext>
            </p:extLst>
          </p:nvPr>
        </p:nvGraphicFramePr>
        <p:xfrm>
          <a:off x="548640" y="4343400"/>
          <a:ext cx="11091672" cy="1929915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859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타깃 세분화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세그먼트 A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세그먼트 B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859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연령 · 직업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859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행동 특성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859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백화점에 오지 않는 이유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859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우선순위 (1 / 2)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네 목표를 모두 주 목표로 삼을 수는 없습니다. 주 목표 하나와 부 목표 하나를 정하십시오.</a:t>
            </a:r>
            <a:endParaRPr lang="en-US" sz="115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xmlns="" id="{05277619-647B-DA4F-0092-40539810B1E7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②  고객 인사이트 도출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"이런 걸 좋아할 것이다"가 아니라 "이런 상황에 있다"를 적으십시오.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1719072"/>
            <a:ext cx="11091672" cy="4572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719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인사이트 작성 형식   "[상황]일 때  [행동]하는데  [이유] 때문에  [불만·욕구]를 느낀다"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26551"/>
              </p:ext>
            </p:extLst>
          </p:nvPr>
        </p:nvGraphicFramePr>
        <p:xfrm>
          <a:off x="548640" y="2331720"/>
          <a:ext cx="11091672" cy="2558492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6396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No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인사이트 문장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근거 (관찰 · 데이터 · 경험)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유형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396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경험 □ 가치 □ 혜택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396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경험 □ 가치 □ 혜택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396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경험 □ 가치 □ 혜택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2120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212080"/>
            <a:ext cx="5440680" cy="310896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세 인사이트 중 가장 강한 것과 그 이유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13232" y="5870448"/>
            <a:ext cx="5111496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13232" y="6199632"/>
            <a:ext cx="5111496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0" name="Shape 17"/>
          <p:cNvSpPr/>
          <p:nvPr/>
        </p:nvSpPr>
        <p:spPr>
          <a:xfrm>
            <a:off x="6199632" y="52120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99632" y="5212080"/>
            <a:ext cx="5440680" cy="310896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22" name="Text 19"/>
          <p:cNvSpPr/>
          <p:nvPr/>
        </p:nvSpPr>
        <p:spPr>
          <a:xfrm>
            <a:off x="6364224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경쟁사가 아직 건드리지 않은 인사이트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364224" y="5870448"/>
            <a:ext cx="5111496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4" name="Shape 21"/>
          <p:cNvSpPr/>
          <p:nvPr/>
        </p:nvSpPr>
        <p:spPr>
          <a:xfrm>
            <a:off x="6364224" y="6199632"/>
            <a:ext cx="5111496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xmlns="" id="{287BC776-A5A6-B60F-022A-6EF600D7FB4D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③  캠페인명과 슬로건 개발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인사이트 → 브랜드가 줄 것 → 고객의 변화 → 한 문장 순서로 만드십시오.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262515"/>
              </p:ext>
            </p:extLst>
          </p:nvPr>
        </p:nvGraphicFramePr>
        <p:xfrm>
          <a:off x="548640" y="1783080"/>
          <a:ext cx="11091672" cy="1627632"/>
        </p:xfrm>
        <a:graphic>
          <a:graphicData uri="http://schemas.openxmlformats.org/drawingml/2006/table">
            <a:tbl>
              <a:tblPr/>
              <a:tblGrid>
                <a:gridCol w="33192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406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단계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작성란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06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1. 선택한 고객 인사이트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06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2. 브랜드가 줄 수 있는 것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06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3. 고객이 얻는 변화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797425"/>
              </p:ext>
            </p:extLst>
          </p:nvPr>
        </p:nvGraphicFramePr>
        <p:xfrm>
          <a:off x="548640" y="3465004"/>
          <a:ext cx="11091672" cy="205740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안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캠페인명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슬로건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이 안의 강점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우려되는 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A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B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C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48640" y="5623560"/>
            <a:ext cx="2606040" cy="5029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□  간결한가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346704" y="5623560"/>
            <a:ext cx="2606040" cy="5029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Text 13"/>
          <p:cNvSpPr/>
          <p:nvPr/>
        </p:nvSpPr>
        <p:spPr>
          <a:xfrm>
            <a:off x="3529584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□  기억하기 쉬운가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144768" y="5623560"/>
            <a:ext cx="2606040" cy="5029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Text 15"/>
          <p:cNvSpPr/>
          <p:nvPr/>
        </p:nvSpPr>
        <p:spPr>
          <a:xfrm>
            <a:off x="6327648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□  감성을 자극하는가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942832" y="5623560"/>
            <a:ext cx="2606040" cy="5029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7"/>
          <p:cNvSpPr/>
          <p:nvPr/>
        </p:nvSpPr>
        <p:spPr>
          <a:xfrm>
            <a:off x="9125712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□  브랜드와 연결되는가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Regular" pitchFamily="34" charset="-120"/>
              </a:rPr>
              <a:t>최종 선택안과 이유  ______________________________________________________________________________</a:t>
            </a:r>
            <a:endParaRPr lang="en-US" sz="115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xmlns="" id="{69A22C22-7AD8-7F92-F4A7-7A81D823EDB1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④  브랜드 스토리텔링 설계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네 칸이 하나의 이야기로 이어지는지 소리 내어 읽어 확인하십시오.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1783080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783080"/>
            <a:ext cx="2377440" cy="100584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94767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①  문제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FFE8E0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고객이 직면한 현실적 또는 심리적 문제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08960" y="2167128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7" name="Shape 15"/>
          <p:cNvSpPr/>
          <p:nvPr/>
        </p:nvSpPr>
        <p:spPr>
          <a:xfrm>
            <a:off x="3108960" y="2478024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898648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898648"/>
            <a:ext cx="2377440" cy="1005840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0632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②  해결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7240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브랜드가 제공하는 구체적 솔루션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08960" y="3282696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3" name="Shape 21"/>
          <p:cNvSpPr/>
          <p:nvPr/>
        </p:nvSpPr>
        <p:spPr>
          <a:xfrm>
            <a:off x="3108960" y="3593592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14216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014216"/>
            <a:ext cx="2377440" cy="1005840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178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③  고객 경험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77240" y="4517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문제 해결로 얻게 되는 긍정적 변화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108960" y="4398264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9" name="Shape 27"/>
          <p:cNvSpPr/>
          <p:nvPr/>
        </p:nvSpPr>
        <p:spPr>
          <a:xfrm>
            <a:off x="3108960" y="4709160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5129784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129784"/>
            <a:ext cx="2377440" cy="1005840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2943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④  브랜드 가치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77240" y="56327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이 과정에서 드러나는 브랜드의 가치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108960" y="5513832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35" name="Shape 33"/>
          <p:cNvSpPr/>
          <p:nvPr/>
        </p:nvSpPr>
        <p:spPr>
          <a:xfrm>
            <a:off x="3108960" y="5824728"/>
            <a:ext cx="8321040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네 칸을 이어서 읽었을 때 하나의 이야기로 들리는지 확인하십시오. 따로 놀면 채널마다 다른 말을 하게 됩니다.</a:t>
            </a:r>
            <a:endParaRPr lang="en-US" sz="115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xmlns="" id="{0F272975-82E6-A574-2C72-434193CA9A9F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⑤  채널 믹스 설계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채널마다 역할을 하나씩 정하십시오. 모든 채널이 모든 일을 할 수는 없습니다.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785616"/>
        </p:xfrm>
        <a:graphic>
          <a:graphicData uri="http://schemas.openxmlformats.org/drawingml/2006/table">
            <a:tbl>
              <a:tblPr/>
              <a:tblGrid>
                <a:gridCol w="23134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채널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사용 여부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이 채널의 역할 (인지/관심/행동/전환)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주요 콘텐츠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예산 비중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목표 도달·성과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인스타그램 · 릴스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유튜브 · 숏폼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틱톡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인플루언서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라이브커머스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앱 푸시 · 멤버십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오프라인 (팝업·포토존)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합계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—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100%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5669280"/>
            <a:ext cx="11091672" cy="731520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56692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13131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질문  ·  이번 캠페인의 목표는 신규 고객 확보입니다. 앱 푸시와 멤버십에 예산을 크게 배정하셨다면, 그 채널이 신규 고객에게 닿습니까?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13131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SNS 도달 목표 10만을 인스타 팔로워 12만 · 도달률 8%로 달성할 수 있는지도 계산해 보십시오.</a:t>
            </a:r>
            <a:endParaRPr lang="en-US" sz="115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xmlns="" id="{0F9FDDA6-D22B-A394-8E46-0E977F0054A8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⑥  IMC 고객 여정 설계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일곱 단계에서 같은 메시지가 유지되는지 확인하는 것이 이 실습의 목적입니다.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068268"/>
              </p:ext>
            </p:extLst>
          </p:nvPr>
        </p:nvGraphicFramePr>
        <p:xfrm>
          <a:off x="548640" y="1783080"/>
          <a:ext cx="11091672" cy="3482128"/>
        </p:xfrm>
        <a:graphic>
          <a:graphicData uri="http://schemas.openxmlformats.org/drawingml/2006/table">
            <a:tbl>
              <a:tblPr/>
              <a:tblGrid>
                <a:gridCol w="19476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단계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채널 · 접점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이 단계에서 전달할 메시지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고객이 하는 행동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다음 단계로 넘기는 장치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1. SNS 인지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2. 홈페이지 · 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3. 백화점 방문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4. 팝업스토어 체험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5. 라이브커머스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6. 멤버십 · 포인트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435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7. 재방문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</a:tbl>
          </a:graphicData>
        </a:graphic>
      </p:graphicFrame>
      <p:sp>
        <p:nvSpPr>
          <p:cNvPr id="12" name="Shape 10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349240"/>
            <a:ext cx="11091672" cy="310896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5349240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일곱 단계에서 반복되는 하나의 메시지 · 어느 단계에서 끊기는가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13232" y="6007608"/>
            <a:ext cx="10762488" cy="731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xmlns="" id="{C8D44A73-2C1B-85BA-6EB8-38BE43ED1302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⑦  운영계획 수립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3주간 무엇을 언제 어디서 할지 정하십시오.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761744"/>
              </p:ext>
            </p:extLst>
          </p:nvPr>
        </p:nvGraphicFramePr>
        <p:xfrm>
          <a:off x="548640" y="1783080"/>
          <a:ext cx="11091672" cy="2002535"/>
        </p:xfrm>
        <a:graphic>
          <a:graphicData uri="http://schemas.openxmlformats.org/drawingml/2006/table">
            <a:tbl>
              <a:tblPr/>
              <a:tblGrid>
                <a:gridCol w="24048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005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항목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내용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결정 근거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005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기간 · 주요 일자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005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장소 · 공간 배치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005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협력 브랜드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005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필요 인력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510288"/>
              </p:ext>
            </p:extLst>
          </p:nvPr>
        </p:nvGraphicFramePr>
        <p:xfrm>
          <a:off x="548640" y="4023360"/>
          <a:ext cx="11091672" cy="2177416"/>
        </p:xfrm>
        <a:graphic>
          <a:graphicData uri="http://schemas.openxmlformats.org/drawingml/2006/table">
            <a:tbl>
              <a:tblPr/>
              <a:tblGrid>
                <a:gridCol w="24048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89864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898648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5443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주차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1주차 (오프닝)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2주차 (피크)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3주차 (마무리)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443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오프라인 프로그램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443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온라인 · SNS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443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예상 방문객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12" name="Text 10"/>
          <p:cNvSpPr/>
          <p:nvPr/>
        </p:nvSpPr>
        <p:spPr>
          <a:xfrm>
            <a:off x="548640" y="6313316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3주 내내 같은 강도로 운영할 수는 없습니다. 어느 주에 무엇을 집중할지 정하십시오.</a:t>
            </a:r>
            <a:endParaRPr lang="en-US" sz="115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xmlns="" id="{D9DD8E58-20FA-48B6-91DC-03C3E772509A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⑧  예산 배분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총 5억원입니다. 채널 믹스(실습 ⑤)의 비중과 어긋나지 않게 맞추십시오.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530840"/>
              </p:ext>
            </p:extLst>
          </p:nvPr>
        </p:nvGraphicFramePr>
        <p:xfrm>
          <a:off x="548640" y="1783080"/>
          <a:ext cx="11091672" cy="3209544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예산 항목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비중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금액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세부 내역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이 금액으로 정한 이유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공간 연출 · 팝업 조성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콘텐츠 · 프로그램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디지털 광고 · SNS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인플루언서 · 라이브커머스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사은품 · 멤버십 혜택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운영 인력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예비비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합계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100%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500,000,000원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5349240"/>
            <a:ext cx="11091672" cy="502920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534924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131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실습 ⑤에서 정한 채널별 예산 비중과 이 표의 디지털·인플루언서 항목이 서로 맞는지 확인하십시오.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943600"/>
            <a:ext cx="11091672" cy="310896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5943600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신규 회원 5,000명 목표 기준 · 1인당 획득 비용은 얼마인가</a:t>
            </a:r>
            <a:endParaRPr 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xmlns="" id="{1D39B525-E295-9B4D-0402-2C6BE14FADCB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⑨  KPI 설정과 측정 계획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퍼널 단계별로 대표 지표를 고르고 측정 방법까지 정하십시오.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561230"/>
              </p:ext>
            </p:extLst>
          </p:nvPr>
        </p:nvGraphicFramePr>
        <p:xfrm>
          <a:off x="548640" y="1783080"/>
          <a:ext cx="11091672" cy="2514600"/>
        </p:xfrm>
        <a:graphic>
          <a:graphicData uri="http://schemas.openxmlformats.org/drawingml/2006/table">
            <a:tbl>
              <a:tblPr/>
              <a:tblGrid>
                <a:gridCol w="213055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퍼널 단계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주 / 부 지표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대표 KPI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현재값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목표값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측정 방법 · 시점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인지 (Awareness)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관심 (Interest)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행동 (Action)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전환 (Conversion)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관계 (Loyalty)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□ 주 □ 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71982"/>
              </p:ext>
            </p:extLst>
          </p:nvPr>
        </p:nvGraphicFramePr>
        <p:xfrm>
          <a:off x="548640" y="4434840"/>
          <a:ext cx="11091672" cy="1581912"/>
        </p:xfrm>
        <a:graphic>
          <a:graphicData uri="http://schemas.openxmlformats.org/drawingml/2006/table">
            <a:tbl>
              <a:tblPr/>
              <a:tblGrid>
                <a:gridCol w="46908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5273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검증 질문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답변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273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작년 대비 두 배 이상인 목표를 어떻게 달성할 것인가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273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목표에 미달했을 때 무엇을 근거로 성과를 설명할 것인가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63093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05A38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캠페인은 브랜드 목표를 추구합니다. 매출만으로 평가하면 거의 항상 실패로 나온다는 점을 기억하십시오.</a:t>
            </a:r>
            <a:endParaRPr lang="en-US" sz="115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D27FA81A-FDBD-0646-6A81-8E574CBD8BC0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⑩  캠페인 기획안 1페이지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앞선 워크시트를 옮겨 담으십시오. 새로 쓰는 것이 아닙니다.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140179"/>
              </p:ext>
            </p:extLst>
          </p:nvPr>
        </p:nvGraphicFramePr>
        <p:xfrm>
          <a:off x="548640" y="1783080"/>
          <a:ext cx="11091672" cy="3878172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구성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내용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가져올 워크시트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1. 배경과 목표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CASE · WS 01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2. 타깃과 인사이트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01 · 02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3. 캠페인명과 슬로건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03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4. 브랜드 스토리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04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5. 채널 전략과 IMC 여정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05 · 06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6. 운영계획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07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7. 예산 계획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08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43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8. KPI와 기대효과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WS 09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5760720"/>
            <a:ext cx="11091672" cy="621792"/>
          </a:xfrm>
          <a:prstGeom prst="rect">
            <a:avLst/>
          </a:prstGeom>
          <a:solidFill>
            <a:srgbClr val="FBEDE9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576072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131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여덟 칸이 하나의 메시지로 이어지는지 확인하십시오. 슬로건과 채널 콘텐츠가 따로 놀면 IMC가 성립하지 않습니다.</a:t>
            </a:r>
            <a:endParaRPr lang="en-US" sz="125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xmlns="" id="{BC0920AF-BABB-86DC-1810-50F062616E8A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48640" y="868680"/>
            <a:ext cx="50292" cy="365760"/>
          </a:xfrm>
          <a:prstGeom prst="rect">
            <a:avLst/>
          </a:prstGeom>
          <a:solidFill>
            <a:srgbClr val="E05A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84124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131313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Bold" pitchFamily="34" charset="-120"/>
              </a:rPr>
              <a:t>실습 ⑪  발표와 상호 평가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13232" y="12984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팀당 8분 발표, 4분 질의응답입니다.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180015" y="868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05A38"/>
          </a:solidFill>
          <a:ln/>
        </p:spPr>
      </p:sp>
      <p:sp>
        <p:nvSpPr>
          <p:cNvPr id="10" name="Text 8"/>
          <p:cNvSpPr/>
          <p:nvPr/>
        </p:nvSpPr>
        <p:spPr>
          <a:xfrm>
            <a:off x="10180015" y="868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253935" y="1298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a고딕12" panose="02020600000000000000" pitchFamily="18" charset="-127"/>
                <a:ea typeface="a고딕12" panose="02020600000000000000" pitchFamily="18" charset="-127"/>
                <a:cs typeface="Pretendard Light" pitchFamily="34" charset="-120"/>
              </a:rPr>
              <a:t>팀명   ______________          작성자   ______________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103120"/>
        </p:xfrm>
        <a:graphic>
          <a:graphicData uri="http://schemas.openxmlformats.org/drawingml/2006/table">
            <a:tbl>
              <a:tblPr/>
              <a:tblGrid>
                <a:gridCol w="24048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발표 순서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담을 내용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배분 시간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1. 타깃과 인사이트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누구의 어떤 상황을 보았는가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2. 캠페인명과 스토리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무엇을 말하는 캠페인인가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3. 채널 전략과 운영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어디서 어떻게 만날 것인가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4. 예산과 KPI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얼마를 써서 무엇을 얻는가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2분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1672" cy="2414016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평가 항목 (각 25점)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팀 ____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팀 ____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팀 ____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한 줄 코멘트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타깃 분석의 정확성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컨셉의 창의성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통합 마케팅의 일관성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실행 가능성 (예산·일정·KPI)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31313"/>
                          </a:solidFill>
                          <a:latin typeface="a고딕12" panose="02020600000000000000" pitchFamily="18" charset="-127"/>
                          <a:ea typeface="a고딕12" panose="02020600000000000000" pitchFamily="18" charset="-127"/>
                          <a:cs typeface="Pretendard Regular" pitchFamily="34" charset="-120"/>
                        </a:rPr>
                        <a:t>합계</a:t>
                      </a: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a고딕12" panose="02020600000000000000" pitchFamily="18" charset="-127"/>
                        <a:ea typeface="a고딕12" panose="02020600000000000000" pitchFamily="18" charset="-127"/>
                        <a:cs typeface="Pretendard Regula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6D7CB400-813E-FFDC-21F7-A8C0515B8B9E}"/>
              </a:ext>
            </a:extLst>
          </p:cNvPr>
          <p:cNvSpPr/>
          <p:nvPr/>
        </p:nvSpPr>
        <p:spPr>
          <a:xfrm>
            <a:off x="659396" y="147829"/>
            <a:ext cx="6230817" cy="504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spcBef>
                <a:spcPts val="0"/>
              </a:spcBef>
              <a:spcAft>
                <a:spcPts val="0"/>
              </a:spcAft>
              <a:defRPr lang="ko-KR">
                <a:latin typeface="KoPub돋움체 Bold"/>
                <a:ea typeface="KoPub돋움체 Bold"/>
              </a:defRPr>
            </a:pPr>
            <a:r>
              <a:rPr lang="en-US" altLang="ko-KR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3-2. </a:t>
            </a:r>
            <a:r>
              <a:rPr lang="ko-KR" altLang="en-US" sz="2800" dirty="0">
                <a:solidFill>
                  <a:schemeClr val="tx1"/>
                </a:solidFill>
                <a:latin typeface="a고딕13" panose="02020600000000000000" pitchFamily="18" charset="-127"/>
                <a:ea typeface="a고딕13" panose="02020600000000000000" pitchFamily="18" charset="-127"/>
              </a:rPr>
              <a:t>캠페인 기획 실습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나눔스퀘어네오">
      <a:majorFont>
        <a:latin typeface="나눔스퀘어 네오 ExtraBold"/>
        <a:ea typeface="나눔스퀘어 네오 ExtraBold"/>
        <a:cs typeface=""/>
      </a:majorFont>
      <a:minorFont>
        <a:latin typeface="나눔스퀘어 네오 Bold"/>
        <a:ea typeface="나눔스퀘어 네오 Bold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12240</TotalTime>
  <Words>1073</Words>
  <Application>Microsoft Office PowerPoint</Application>
  <PresentationFormat>사용자 지정</PresentationFormat>
  <Paragraphs>266</Paragraphs>
  <Slides>11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2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이정원</dc:creator>
  <cp:lastModifiedBy>LG</cp:lastModifiedBy>
  <cp:revision>738</cp:revision>
  <dcterms:created xsi:type="dcterms:W3CDTF">2023-03-30T02:09:27Z</dcterms:created>
  <dcterms:modified xsi:type="dcterms:W3CDTF">2026-09-25T00:28:19Z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