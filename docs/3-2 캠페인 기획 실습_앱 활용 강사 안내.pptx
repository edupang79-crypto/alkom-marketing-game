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58"/>
  </p:notesMasterIdLst>
  <p:sldIdLst>
    <p:sldId id="1222" r:id="rId2"/>
    <p:sldId id="1264" r:id="rId3"/>
    <p:sldId id="1280" r:id="rId4"/>
    <p:sldId id="1265" r:id="rId5"/>
    <p:sldId id="1296" r:id="rId6"/>
    <p:sldId id="1297" r:id="rId7"/>
    <p:sldId id="1298" r:id="rId8"/>
    <p:sldId id="1299" r:id="rId9"/>
    <p:sldId id="1300" r:id="rId10"/>
    <p:sldId id="1301" r:id="rId11"/>
    <p:sldId id="1302" r:id="rId12"/>
    <p:sldId id="1266" r:id="rId13"/>
    <p:sldId id="1275" r:id="rId14"/>
    <p:sldId id="1319" r:id="rId63"/>
    <p:sldId id="1320" r:id="rId64"/>
    <p:sldId id="1321" r:id="rId65"/>
    <p:sldId id="1322" r:id="rId66"/>
    <p:sldId id="1323" r:id="rId67"/>
    <p:sldId id="1303" r:id="rId15"/>
    <p:sldId id="1304" r:id="rId16"/>
    <p:sldId id="1284" r:id="rId17"/>
    <p:sldId id="1305" r:id="rId18"/>
    <p:sldId id="1324" r:id="rId68"/>
    <p:sldId id="1325" r:id="rId69"/>
    <p:sldId id="1306" r:id="rId19"/>
    <p:sldId id="1307" r:id="rId20"/>
    <p:sldId id="1267" r:id="rId21"/>
    <p:sldId id="1326" r:id="rId70"/>
    <p:sldId id="1285" r:id="rId22"/>
    <p:sldId id="1308" r:id="rId23"/>
    <p:sldId id="1268" r:id="rId24"/>
    <p:sldId id="1327" r:id="rId71"/>
    <p:sldId id="1286" r:id="rId25"/>
    <p:sldId id="1309" r:id="rId26"/>
    <p:sldId id="1269" r:id="rId27"/>
    <p:sldId id="1283" r:id="rId28"/>
    <p:sldId id="1276" r:id="rId29"/>
    <p:sldId id="1328" r:id="rId72"/>
    <p:sldId id="1287" r:id="rId30"/>
    <p:sldId id="1310" r:id="rId31"/>
    <p:sldId id="1270" r:id="rId32"/>
    <p:sldId id="1329" r:id="rId73"/>
    <p:sldId id="1288" r:id="rId33"/>
    <p:sldId id="1311" r:id="rId34"/>
    <p:sldId id="1271" r:id="rId35"/>
    <p:sldId id="1272" r:id="rId36"/>
    <p:sldId id="1273" r:id="rId37"/>
    <p:sldId id="1281" r:id="rId38"/>
    <p:sldId id="1274" r:id="rId39"/>
    <p:sldId id="1330" r:id="rId74"/>
    <p:sldId id="1289" r:id="rId40"/>
    <p:sldId id="1312" r:id="rId41"/>
    <p:sldId id="1331" r:id="rId75"/>
    <p:sldId id="1290" r:id="rId42"/>
    <p:sldId id="1313" r:id="rId43"/>
    <p:sldId id="1277" r:id="rId44"/>
    <p:sldId id="1332" r:id="rId76"/>
    <p:sldId id="1291" r:id="rId45"/>
    <p:sldId id="1314" r:id="rId46"/>
    <p:sldId id="1333" r:id="rId77"/>
    <p:sldId id="1292" r:id="rId47"/>
    <p:sldId id="1315" r:id="rId48"/>
    <p:sldId id="1278" r:id="rId49"/>
    <p:sldId id="1282" r:id="rId50"/>
    <p:sldId id="1334" r:id="rId78"/>
    <p:sldId id="1293" r:id="rId51"/>
    <p:sldId id="1316" r:id="rId52"/>
    <p:sldId id="271" r:id="rId53"/>
    <p:sldId id="1335" r:id="rId79"/>
    <p:sldId id="1294" r:id="rId54"/>
    <p:sldId id="1317" r:id="rId55"/>
    <p:sldId id="1336" r:id="rId80"/>
    <p:sldId id="1295" r:id="rId56"/>
    <p:sldId id="1318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22"/>
            <p14:sldId id="1264"/>
            <p14:sldId id="1280"/>
            <p14:sldId id="1265"/>
            <p14:sldId id="1296"/>
            <p14:sldId id="1297"/>
            <p14:sldId id="1298"/>
            <p14:sldId id="1299"/>
            <p14:sldId id="1300"/>
            <p14:sldId id="1301"/>
            <p14:sldId id="1302"/>
            <p14:sldId id="1266"/>
            <p14:sldId id="1275"/>
            <p14:sldId id="1303"/>
            <p14:sldId id="1304"/>
            <p14:sldId id="1284"/>
            <p14:sldId id="1305"/>
            <p14:sldId id="1306"/>
            <p14:sldId id="1307"/>
            <p14:sldId id="1267"/>
            <p14:sldId id="1285"/>
            <p14:sldId id="1308"/>
            <p14:sldId id="1268"/>
            <p14:sldId id="1286"/>
            <p14:sldId id="1309"/>
            <p14:sldId id="1269"/>
            <p14:sldId id="1283"/>
            <p14:sldId id="1276"/>
            <p14:sldId id="1287"/>
            <p14:sldId id="1310"/>
            <p14:sldId id="1270"/>
            <p14:sldId id="1288"/>
            <p14:sldId id="1311"/>
            <p14:sldId id="1271"/>
            <p14:sldId id="1272"/>
            <p14:sldId id="1273"/>
            <p14:sldId id="1281"/>
            <p14:sldId id="1274"/>
            <p14:sldId id="1289"/>
            <p14:sldId id="1312"/>
            <p14:sldId id="1290"/>
            <p14:sldId id="1313"/>
            <p14:sldId id="1277"/>
            <p14:sldId id="1291"/>
            <p14:sldId id="1314"/>
            <p14:sldId id="1292"/>
            <p14:sldId id="1315"/>
            <p14:sldId id="1278"/>
            <p14:sldId id="1282"/>
            <p14:sldId id="1293"/>
            <p14:sldId id="1316"/>
            <p14:sldId id="271"/>
            <p14:sldId id="1294"/>
            <p14:sldId id="1317"/>
            <p14:sldId id="1295"/>
            <p14:sldId id="1318"/>
          </p14:sldIdLst>
        </p14:section>
        <p14:section name="내지템플릿" id="{3037A2AB-4A6B-4C83-8556-AB3EFE8FE7EF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9068" autoAdjust="0"/>
    <p:restoredTop sz="90970" autoAdjust="0"/>
  </p:normalViewPr>
  <p:slideViewPr>
    <p:cSldViewPr>
      <p:cViewPr varScale="1">
        <p:scale>
          <a:sx n="105" d="100"/>
          <a:sy n="105" d="100"/>
        </p:scale>
        <p:origin x="-560" y="-76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26E8D04-78BD-3200-3C5B-A4D3F100F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="" xmlns:a16="http://schemas.microsoft.com/office/drawing/2014/main" id="{38B07F9A-2A2E-6398-4780-461CAD547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="" xmlns:a16="http://schemas.microsoft.com/office/drawing/2014/main" id="{728D9789-6290-C073-9D35-6D7C94674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2D90D977-842F-882A-C145-C4EEA5FE3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47827-678D-44C3-90F5-D7FFBBDE4B57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2914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종이 워크시트 대신 이 앱으로 실습합니다. 조가 쓰는 칸은 원본 워크시트와 같습니다. 강사는 강사방에서 모든 조의 진행을 실시간으로 봅니다. 마지막에는 원본 시트 모양의 PPT로 결과를 내려받습니다.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QR을 찍고 우리 조를 고르면 강사방 입장 현황에 조가 바로 뜹니다. 조를 잘못 골랐다면 강사가 "조 선택으로 돌려보내기"를 누르면 됩니다. 연습으로 쓴 내용은 "이 조 기록 지우기"나 "다시 시작"으로 지웁니다.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①에서 트렌드 키워드와 캠페인 유형을 바로 고르게 되니, 그 전에 게임으로 용어를 맞춰 둡니다. 정답을 맞히는 것보다 "왜 그런가" 설명을 소리 내어 읽게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라운드 버튼을 누르면 조 화면에는 그 라운드까지만 열립니다. 시간이 모자라면 +5분을 누릅니다. 예시 답안은 조가 먼저 써 본 다음에 여십시오. 먼저 보여 주면 조가 예시를 베낍니다.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진행표에서 비어 있는 조를 먼저 도와주십시오. 발표 전에는 모든 조 PPT를 zip으로 받아 두고, 수업이 끝나면 다시 시작으로 비웁니다.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트렌드는 모든 백화점에 똑같이 주어집니다. 차이는 우리 고객 데이터에서 그 신호를 확인하는 데서 나옵니다. 캠페인의 근거를 "요즘 유행"이 아니라 "우리 고객에게 실제로 나타난 변화"에 두기 위해 이 단계부터 시작합니다.</a:t>
            </a:r>
          </a:p>
          <a:p>
            <a:r>
              <a:t>[핵심] 트렌드 키워드를 다섯 개 모아 놓은 것은 조사입니다. 하나를 고르고 나머지를 버려야 전략이 됩니다. / 유행하는 키워드라도 케이스 ② 데이터에 신호가 없으면 우리 캠페인의 근거가 될 수 없습니다. / 두 개의 신호가 같은 고객 상황을 가리키면, 그것이 가장 믿을 만한 근거입니다. / 고객 상황 → 캠페인 유형 → 카테고리 · 상품까지 내려와야 MD의 캠페인입니다.</a:t>
            </a:r>
          </a:p>
          <a:p>
            <a:r>
              <a:t>[다음 단계] 여기서 고른 트렌드 하나가 ② 목표 · 타깃을 좁히는 기준이 됩니다.</a:t>
            </a:r>
          </a:p>
          <a:p>
            <a:r>
              <a:t>[진행] 강사방에서 실습 ①을 시작하면 40분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유형 카드에서 하나만 고르고 "참고 사례 보기"로 사례 줄을 봅니다. "우리 캠페인에 적용"을 누르면 사례 줄 바로 아래 같은 칸이 빈칸으로 생깁니다. 사례의 내용이 아니라 칸의 순서(공식)만 가져온다는 점을 강조하십시오. 마지막 버튼을 누르면 "벤치마킹 사례와 가져올 요소" 칸에 한 줄로 정리됩니다.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주어진 목표 다섯 개를 모두 쫓으면 채널 · 예산 · KPI가 서로 다른 방향을 봅니다. 주 목표 하나와 부 목표 하나를 정해야 이후 모든 결정이 한 방향으로 모입니다. 타깃도 "20~30대 전체"가 아니라 ①에서 고른 트렌드 신호가 가장 강한 사람으로 좁힙니다.</a:t>
            </a:r>
          </a:p>
          <a:p>
            <a:r>
              <a:t>[핵심] 직전 캠페인은 신규 회원 2,300명 · SNS 도달 6.5만입니다. 목표는 두 배가 넘습니다. 같은 방식으로는 도달할 수 없습니다. / "백화점에 오지 않는 이유"가 곧 캠페인이 풀어야 할 과제입니다. / 세그먼트를 둘로 나누고 우선순위를 매겨야 메시지를 한 사람에게 말할 수 있습니다.</a:t>
            </a:r>
          </a:p>
          <a:p>
            <a:r>
              <a:t>[다음 단계] 1순위 세그먼트가 처한 상황이 ③ 고객 인사이트의 재료가 됩니다.</a:t>
            </a:r>
          </a:p>
          <a:p>
            <a:r>
              <a:t>[진행] 강사방에서 실습 ②을 시작하면 30분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"20대는 감성 팝업을 좋아할 것이다"는 추측이고, "퇴근 후 들를 곳이 없어 편의점 디저트로 달랜다"는 관찰입니다. 상황을 적어야 그 상황을 바꾸는 캠페인이 나옵니다.</a:t>
            </a:r>
          </a:p>
          <a:p>
            <a:r>
              <a:t>[핵심] 형식을 지키십시오 — [상황]일 때 [행동]하는데 [이유] 때문에 [불만 · 욕구]를 느낀다. / 근거 칸에는 케이스 ② 수치를 적습니다. 데이터 두 개가 같은 상황을 가리킬 때 가장 강한 인사이트입니다. / 경쟁사가 "살 이유"를 만들 때, 아무도 주지 않은 "안 사도 와도 된다는 허락"도 인사이트가 됩니다.</a:t>
            </a:r>
          </a:p>
          <a:p>
            <a:r>
              <a:t>[다음 단계] 가장 강한 인사이트 한 줄이 ④ 캠페인명 · 슬로건의 출발점입니다.</a:t>
            </a:r>
          </a:p>
          <a:p>
            <a:r>
              <a:t>[진행] 강사방에서 실습 ③을 시작하면 30분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고객은 캠페인을 한 문장으로 기억합니다. 제로클릭 시대에는 AI가 캠페인을 요약해 주기 때문에, 한 문장으로 요약되지 않는 캠페인은 고객에게 닿지 않습니다.</a:t>
            </a:r>
          </a:p>
          <a:p>
            <a:r>
              <a:t>[핵심] "최고의 상품을 만나보세요"는 우리 이야기입니다. 고객의 변화를 말해야 메시지입니다. / 처음부터 짧게 쓰려고 하면 알맹이가 빠집니다. 길게 쓴 뒤 깎아 내십시오. / 읽지 말고 소리 내어 말해 보십시오. 입에 붙는지가 최종 시험입니다. / 좋은 메시지의 네 조건 — 간결한가 · 기억하기 쉬운가 · 감성을 자극하는가 · 브랜드와 연결되는가.</a:t>
            </a:r>
          </a:p>
          <a:p>
            <a:r>
              <a:t>[다음 단계] 고른 슬로건이 ⑤ 스토리의 결론이자 ⑦ 일곱 단계 모두에서 반복할 메시지가 됩니다.</a:t>
            </a:r>
          </a:p>
          <a:p>
            <a:r>
              <a:t>[진행] 강사방에서 실습 ④을 시작하면 40분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채널이 많아질수록 각 채널이 다른 말을 하기 쉽습니다. 문제 → 해결 → 고객 경험 → 브랜드 가치를 하나의 이야기로 묶어 두면, 릴스 · 인플루언서 · 매장 안내가 모두 같은 이야기의 한 조각이 됩니다.</a:t>
            </a:r>
          </a:p>
          <a:p>
            <a:r>
              <a:t>[핵심] 네 칸을 이어서 소리 내어 읽었을 때 한 문단으로 들려야 합니다. / ① 문제에는 ③ 인사이트의 상황을, ② 해결에는 실제 공간 · 프로그램 이름을 적습니다. / ④ 가치는 "물건을 파는 곳"을 넘어 고객에게 어떤 곳이 되는지를 말합니다.</a:t>
            </a:r>
          </a:p>
          <a:p>
            <a:r>
              <a:t>[다음 단계] 이 이야기를 ⑥ 채널별 콘텐츠로 나눠 싣습니다.</a:t>
            </a:r>
          </a:p>
          <a:p>
            <a:r>
              <a:t>[진행] 강사방에서 실습 ⑤을 시작하면 30분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채널마다 잘하는 일이 다릅니다. 인스타 릴스는 인지, 라이브커머스는 즉시 구매, 앱 푸시는 재방문에 강합니다. 도달이 목적인지 전환이 목적인지에 따라 채널과 예산을 골라야 합니다.</a:t>
            </a:r>
          </a:p>
          <a:p>
            <a:r>
              <a:t>[핵심] 신규 고객 확보가 목표라면 앱 푸시 · 멤버십에 예산을 쏟아도 소용이 없습니다. 이미 우리 회원인 사람에게만 닿기 때문입니다. / 인스타 오가닉 도달은 팔로워 12만 × 도달률 8% ≈ 1만입니다. 목표 10만은 광고 · 인플루언서로 채워야 합니다. / 인플루언서는 팔로워 수보다 참여율을 확인하십시오.</a:t>
            </a:r>
          </a:p>
          <a:p>
            <a:r>
              <a:t>[다음 단계] 여기서 정한 채널 비중이 ⑨ 예산의 디지털 · 인플루언서 · 공간 항목과 맞아야 합니다.</a:t>
            </a:r>
          </a:p>
          <a:p>
            <a:r>
              <a:t>[진행] 강사방에서 실습 ⑥을 시작하면 35분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채널이 따로 움직이면 고객은 여러 광고를 본 것이 아니라 아무것도 기억하지 못합니다. SNS에서 재방문까지 일곱 단계가 같은 메시지를 이어 말해야 효과가 쌓입니다(IMC).</a:t>
            </a:r>
          </a:p>
          <a:p>
            <a:r>
              <a:t>[핵심] 단계마다 "다음 단계로 넘기는 장치"가 없으면 여정이 그 자리에서 끊깁니다. / 가장 끊기기 쉬운 곳은 체험 → 구매로 넘어가는 라이브커머스입니다. "상품 판매" 말투로 바뀌기 쉽습니다. / 반복 메시지는 ④에서 고른 슬로건을 단계에 맞게 변주한 것입니다.</a:t>
            </a:r>
          </a:p>
          <a:p>
            <a:r>
              <a:t>[다음 단계] 여정의 장치(스탬프 · 쿠폰 · 코스)가 ⑧ 운영 프로그램이 됩니다.</a:t>
            </a:r>
          </a:p>
          <a:p>
            <a:r>
              <a:t>[진행] 강사방에서 실습 ⑦을 시작하면 35분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3주 내내 같은 강도로 운영할 수는 없습니다. 트렌드 신호가 가장 강한 시기 · 시간대 · 공간에 인력과 프로그램을 모아야 같은 예산으로 더 많은 고객을 만납니다.</a:t>
            </a:r>
          </a:p>
          <a:p>
            <a:r>
              <a:t>[핵심] "결정 근거" 칸에는 케이스 데이터를 적습니다. 예) 평일 18~21시 방문 41% → 저녁 집중 운영. / 팝업 후 다른 층 이동률이 22%라면, 층을 잇는 장치(스탬프 · 코스)가 필요합니다. / 오프닝 → 피크 → 마무리로 강약을 두고, 피크 주에 가장 큰 이벤트를 놓습니다.</a:t>
            </a:r>
          </a:p>
          <a:p>
            <a:r>
              <a:t>[다음 단계] 운영 규모(공간 · 인력 · 프로그램)가 ⑨ 예산 항목의 금액을 정합니다.</a:t>
            </a:r>
          </a:p>
          <a:p>
            <a:r>
              <a:t>[진행] 강사방에서 실습 ⑧을 시작하면 40분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예산표는 전략을 숫자로 옮긴 것입니다. ⑥에서 "인스타가 핵심"이라고 해 놓고 예산은 공간에 몰려 있다면, 두 계획 중 하나는 거짓입니다.</a:t>
            </a:r>
          </a:p>
          <a:p>
            <a:r>
              <a:t>[핵심] ⑥의 인스타 + 유튜브 + 앱 비중이 "디지털 광고 · SNS", 인플루언서 + 라이브가 "인플루언서 · 라이브커머스" 항목과 같아야 합니다. / 1인당 획득 비용 = 5억 ÷ 5,000명 = 10만원. 직전 캠페인은 같은 예산 ÷ 2,300명 ≈ 21.7만원이었습니다. 절반 이하로 낮춰야 합니다. / 예비비는 2주차 성과를 본 뒤 반응 좋은 채널에 다시 나눕니다.</a:t>
            </a:r>
          </a:p>
          <a:p>
            <a:r>
              <a:t>[다음 단계] 1인당 획득 비용이 ⑩ KPI 검증 질문의 근거가 됩니다.</a:t>
            </a:r>
          </a:p>
          <a:p>
            <a:r>
              <a:t>[진행] 강사방에서 실습 ⑨을 시작하면 30분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브랜드 캠페인을 매출로만 재면 거의 항상 실패로 나옵니다. 인지 → 관심 → 행동 → 전환 → 관계로 나눠 봐야 어디서 성공했고 어디서 막혔는지 설명할 수 있습니다.</a:t>
            </a:r>
          </a:p>
          <a:p>
            <a:r>
              <a:t>[핵심] 신규 고객 확보가 목표라면 대표 지표는 "인지"와 "행동"입니다. 전환은 부지표로 두고, 그 사실을 기획 단계에서 적어 둡니다. / 측정 방법과 시점까지 정해야 KPI입니다. "SNS 반응 좋음"은 KPI가 아닙니다. / 목표에 미달해도 설명할 근거(도달 · 참여 · 1인당 비용 개선 폭)를 미리 정해 둡니다.</a:t>
            </a:r>
          </a:p>
          <a:p>
            <a:r>
              <a:t>[다음 단계] 앞의 결정을 ⑪ 기획안 1페이지에 옮겨 담습니다.</a:t>
            </a:r>
          </a:p>
          <a:p>
            <a:r>
              <a:t>[진행] 강사방에서 실습 ⑩을 시작하면 35분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열 장의 워크시트가 하나의 캠페인인지 확인하는 마지막 점검입니다. 새로 쓰면 앞의 결정과 어긋나기 쉽습니다. 옮겨 담으면서 여덟 칸이 한 메시지로 이어지는지 봅니다.</a:t>
            </a:r>
          </a:p>
          <a:p>
            <a:r>
              <a:t>[핵심] 여덟 칸을 위에서 아래로 읽었을 때 같은 트렌드 · 같은 고객 · 같은 슬로건이 계속 나와야 합니다. / 슬로건과 채널 콘텐츠가 따로 놀면 IMC가 성립하지 않습니다. / "초안 불러오기"로 앞 시트를 모은 뒤, 한 줄씩 줄여 쓰십시오.</a:t>
            </a:r>
          </a:p>
          <a:p>
            <a:r>
              <a:t>[다음 단계] 이 1페이지가 ⑫ 8분 발표의 대본이 됩니다.</a:t>
            </a:r>
          </a:p>
          <a:p>
            <a:r>
              <a:t>[진행] 강사방에서 실습 ⑪을 시작하면 45분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하나요] 다른 조의 기획을 평가하면 우리 기획의 빈틈이 보입니다. 평가 기준 네 가지는 이 과정의 네 덩어리(트렌드 · 타깃 / 컨셉 / 통합 마케팅 / 실행)와 같습니다.</a:t>
            </a:r>
          </a:p>
          <a:p>
            <a:r>
              <a:t>[핵심] 발표는 ⑪ 1페이지의 순서를 그대로 따릅니다. 새 내용을 넣지 않습니다. / 점수보다 "한 줄 코멘트"가 중요합니다. 무엇이 좋았는지, 무엇을 더 구체화할지 한 줄씩 적습니다. / 케이스 수치는 두세 개만 인용하십시오. 숫자가 많으면 메시지가 흐려집니다.</a:t>
            </a:r>
          </a:p>
          <a:p>
            <a:r>
              <a:t>[다음 단계] 평가가 끝나면 강사가 예시 팀 MOOD SHIFT와 비교해 정리합니다.</a:t>
            </a:r>
          </a:p>
          <a:p>
            <a:r>
              <a:t>[진행] 강사방에서 실습 ⑫을 시작하면 60분 타이머가 켜집니다. 조가 제출하면 강사방에 ✓가 뜹니다. 조가 먼저 써 본 뒤 "예시 답안 보여 주기"로 예시 팀 답안을 띄워 비교하고, 다시 눌러 닫은 뒤 고치게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="" xmlns:a16="http://schemas.microsoft.com/office/drawing/2014/main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="" xmlns:a16="http://schemas.microsoft.com/office/drawing/2014/main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="" xmlns:a16="http://schemas.microsoft.com/office/drawing/2014/main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11" r:id="rId3"/>
    <p:sldLayoutId id="214748371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4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notesSlide" Target="../notesSlides/notesSlide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notesSlide" Target="../notesSlides/notesSlide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1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1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1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1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1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0.png"/><Relationship Id="rId3" Type="http://schemas.openxmlformats.org/officeDocument/2006/relationships/notesSlide" Target="../notesSlides/notesSlide1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1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CF95665-D276-82A9-6A61-A34EFCA8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="" xmlns:a16="http://schemas.microsoft.com/office/drawing/2014/main" id="{6B6E4E8B-8332-A4CC-6A31-1C13F74BA825}"/>
              </a:ext>
            </a:extLst>
          </p:cNvPr>
          <p:cNvSpPr/>
          <p:nvPr/>
        </p:nvSpPr>
        <p:spPr>
          <a:xfrm>
            <a:off x="1106496" y="2870210"/>
            <a:ext cx="4788000" cy="557076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60012"/>
                    </a:gs>
                    <a:gs pos="99000">
                      <a:srgbClr val="E60012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상품 마케팅 </a:t>
            </a:r>
            <a:r>
              <a:rPr lang="ko-KR" altLang="en-US" sz="3000" dirty="0">
                <a:gradFill>
                  <a:gsLst>
                    <a:gs pos="0">
                      <a:srgbClr val="E60012"/>
                    </a:gs>
                    <a:gs pos="99000">
                      <a:srgbClr val="E60012"/>
                    </a:gs>
                  </a:gsLst>
                  <a:lin ang="5400000" scaled="1"/>
                </a:gra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이해</a:t>
            </a:r>
            <a:endParaRPr kumimoji="0" lang="ko-KR" altLang="en-US" sz="300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E60012"/>
                  </a:gs>
                  <a:gs pos="99000">
                    <a:srgbClr val="E60012"/>
                  </a:gs>
                </a:gsLst>
                <a:lin ang="5400000" scaled="1"/>
              </a:gradFill>
              <a:effectLst/>
              <a:uLnTx/>
              <a:uFillTx/>
              <a:latin typeface="나눔스퀘어 네오 Heavy" panose="00000A00000000000000" pitchFamily="2" charset="-127"/>
              <a:ea typeface="나눔스퀘어 네오 Heavy" panose="00000A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DE82E25-8E13-0DFB-52A7-660BB6086CDB}"/>
              </a:ext>
            </a:extLst>
          </p:cNvPr>
          <p:cNvSpPr txBox="1"/>
          <p:nvPr/>
        </p:nvSpPr>
        <p:spPr>
          <a:xfrm>
            <a:off x="981757" y="1693553"/>
            <a:ext cx="2895382" cy="1169551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60012"/>
                    </a:gs>
                    <a:gs pos="99000">
                      <a:srgbClr val="E60012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+mn-cs"/>
              </a:rPr>
              <a:t>03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="" xmlns:a16="http://schemas.microsoft.com/office/drawing/2014/main" id="{AB99FD11-6CBD-70BB-3DB7-F5CB310086C1}"/>
              </a:ext>
            </a:extLst>
          </p:cNvPr>
          <p:cNvCxnSpPr>
            <a:cxnSpLocks/>
          </p:cNvCxnSpPr>
          <p:nvPr/>
        </p:nvCxnSpPr>
        <p:spPr>
          <a:xfrm>
            <a:off x="1117537" y="2832128"/>
            <a:ext cx="900000" cy="0"/>
          </a:xfrm>
          <a:prstGeom prst="line">
            <a:avLst/>
          </a:prstGeom>
          <a:noFill/>
          <a:ln w="25400">
            <a:solidFill>
              <a:srgbClr val="E600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ECD3685-C82F-6FBA-B0D0-33B9E555D8EF}"/>
              </a:ext>
            </a:extLst>
          </p:cNvPr>
          <p:cNvSpPr txBox="1"/>
          <p:nvPr/>
        </p:nvSpPr>
        <p:spPr>
          <a:xfrm>
            <a:off x="961340" y="1284686"/>
            <a:ext cx="2170105" cy="25481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유통</a:t>
            </a: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·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리테일 전문가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="" xmlns:a16="http://schemas.microsoft.com/office/drawing/2014/main" id="{7E05CF3E-64FA-A881-6401-6B772A92256A}"/>
              </a:ext>
            </a:extLst>
          </p:cNvPr>
          <p:cNvCxnSpPr>
            <a:cxnSpLocks/>
          </p:cNvCxnSpPr>
          <p:nvPr/>
        </p:nvCxnSpPr>
        <p:spPr>
          <a:xfrm>
            <a:off x="988553" y="1285719"/>
            <a:ext cx="1583197" cy="0"/>
          </a:xfrm>
          <a:prstGeom prst="line">
            <a:avLst/>
          </a:prstGeom>
          <a:ln w="3175">
            <a:solidFill>
              <a:srgbClr val="38278C">
                <a:alpha val="2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54279A2-67CB-9E0E-7B18-2570B557FC1A}"/>
              </a:ext>
            </a:extLst>
          </p:cNvPr>
          <p:cNvSpPr txBox="1"/>
          <p:nvPr/>
        </p:nvSpPr>
        <p:spPr>
          <a:xfrm>
            <a:off x="961340" y="845819"/>
            <a:ext cx="5204632" cy="42396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250" normalizeH="0">
                <a:ln>
                  <a:noFill/>
                </a:ln>
                <a:gradFill>
                  <a:gsLst>
                    <a:gs pos="0">
                      <a:srgbClr val="FF5D00"/>
                    </a:gs>
                    <a:gs pos="100000">
                      <a:srgbClr val="FF5D00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pc="0" dirty="0">
                <a:ln w="3175">
                  <a:noFill/>
                </a:ln>
                <a:gradFill>
                  <a:gsLst>
                    <a:gs pos="0">
                      <a:srgbClr val="E60012"/>
                    </a:gs>
                    <a:gs pos="100000">
                      <a:srgbClr val="E60012"/>
                    </a:gs>
                  </a:gsLst>
                  <a:lin ang="5400000" scaled="1"/>
                </a:gra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Lift U &amp; Your Tomorrow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맑은 고딕 Semilight" panose="020B0502040204020203" pitchFamily="50" charset="-127"/>
              </a:rPr>
              <a:t>롯데 청년 직무 아카데미 </a:t>
            </a:r>
            <a:r>
              <a:rPr lang="en-US" altLang="ko-KR" sz="900" spc="0" dirty="0">
                <a:ln w="3175">
                  <a:noFill/>
                </a:ln>
                <a:gradFill>
                  <a:gsLst>
                    <a:gs pos="0">
                      <a:srgbClr val="E60012"/>
                    </a:gs>
                    <a:gs pos="100000">
                      <a:srgbClr val="E60012"/>
                    </a:gs>
                  </a:gsLst>
                  <a:lin ang="5400000" scaled="1"/>
                </a:gra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LOTTE LIFT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="" xmlns:a16="http://schemas.microsoft.com/office/drawing/2014/main" id="{6D371BEC-217E-5CC2-7A61-E53EAA29CFFD}"/>
              </a:ext>
            </a:extLst>
          </p:cNvPr>
          <p:cNvGrpSpPr/>
          <p:nvPr/>
        </p:nvGrpSpPr>
        <p:grpSpPr>
          <a:xfrm>
            <a:off x="1106495" y="3601002"/>
            <a:ext cx="4788001" cy="216919"/>
            <a:chOff x="8385375" y="1924331"/>
            <a:chExt cx="4788001" cy="216919"/>
          </a:xfrm>
        </p:grpSpPr>
        <p:sp>
          <p:nvSpPr>
            <p:cNvPr id="15" name="직사각형 14">
              <a:extLst>
                <a:ext uri="{FF2B5EF4-FFF2-40B4-BE49-F238E27FC236}">
                  <a16:creationId xmlns="" xmlns:a16="http://schemas.microsoft.com/office/drawing/2014/main" id="{AB76C0AD-0844-6EF6-8F46-0B8D7A0ED25D}"/>
                </a:ext>
              </a:extLst>
            </p:cNvPr>
            <p:cNvSpPr/>
            <p:nvPr/>
          </p:nvSpPr>
          <p:spPr>
            <a:xfrm>
              <a:off x="8632042" y="1924331"/>
              <a:ext cx="4541334" cy="21691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맑은 고딕 Semilight" panose="020B0502040204020203" pitchFamily="50" charset="-127"/>
                </a:rPr>
                <a:t>캠페인 기획 실습</a:t>
              </a:r>
            </a:p>
          </p:txBody>
        </p:sp>
        <p:sp>
          <p:nvSpPr>
            <p:cNvPr id="16" name="모서리가 둥근 직사각형 14">
              <a:extLst>
                <a:ext uri="{FF2B5EF4-FFF2-40B4-BE49-F238E27FC236}">
                  <a16:creationId xmlns="" xmlns:a16="http://schemas.microsoft.com/office/drawing/2014/main" id="{27403758-6321-4443-C70B-1A9D728F0D3B}"/>
                </a:ext>
              </a:extLst>
            </p:cNvPr>
            <p:cNvSpPr/>
            <p:nvPr/>
          </p:nvSpPr>
          <p:spPr>
            <a:xfrm>
              <a:off x="8385375" y="1945058"/>
              <a:ext cx="181727" cy="181727"/>
            </a:xfrm>
            <a:prstGeom prst="roundRect">
              <a:avLst>
                <a:gd name="adj" fmla="val 9410"/>
              </a:avLst>
            </a:prstGeom>
            <a:solidFill>
              <a:srgbClr val="776C6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1"/>
                  </a:gra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2</a:t>
              </a:r>
              <a:endParaRPr lang="ko-KR" altLang="en-US" sz="1000" dirty="0"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563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704850" y="323850"/>
            <a:ext cx="1981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958579" y="1076325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캠페인의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정의와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특징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2921000"/>
            <a:ext cx="4298950" cy="34988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50" y="2381250"/>
            <a:ext cx="4298950" cy="533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89100" y="2425700"/>
            <a:ext cx="3067050" cy="317500"/>
          </a:xfrm>
          <a:prstGeom prst="rect">
            <a:avLst/>
          </a:prstGeom>
        </p:spPr>
        <p:txBody>
          <a:bodyPr lIns="0" tIns="20574" rIns="0" bIns="20574" rtlCol="0" anchor="ctr"/>
          <a:lstStyle/>
          <a:p>
            <a:pPr lvl="0" algn="ctr">
              <a:lnSpc>
                <a:spcPct val="101259"/>
              </a:lnSpc>
            </a:pPr>
            <a:r>
              <a:rPr lang="en-US" dirty="0" err="1">
                <a:solidFill>
                  <a:srgbClr val="222323">
                    <a:alpha val="80000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프로모션</a:t>
            </a:r>
            <a:endParaRPr lang="en-US" dirty="0">
              <a:solidFill>
                <a:srgbClr val="222323">
                  <a:alpha val="80000"/>
                </a:srgbClr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100" y="2921000"/>
            <a:ext cx="4298950" cy="34988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100" y="2381250"/>
            <a:ext cx="4298950" cy="533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645400" y="2425700"/>
            <a:ext cx="3067050" cy="317500"/>
          </a:xfrm>
          <a:prstGeom prst="rect">
            <a:avLst/>
          </a:prstGeom>
        </p:spPr>
        <p:txBody>
          <a:bodyPr lIns="0" tIns="20574" rIns="0" bIns="20574" rtlCol="0" anchor="ctr"/>
          <a:lstStyle/>
          <a:p>
            <a:pPr lvl="0" algn="ctr">
              <a:lnSpc>
                <a:spcPct val="101259"/>
              </a:lnSpc>
            </a:pPr>
            <a:r>
              <a:rPr lang="en-US" dirty="0" err="1">
                <a:solidFill>
                  <a:srgbClr val="222323">
                    <a:alpha val="80000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endParaRPr lang="en-US" dirty="0">
              <a:solidFill>
                <a:srgbClr val="222323">
                  <a:alpha val="80000"/>
                </a:srgbClr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850" y="4095750"/>
            <a:ext cx="1841500" cy="2311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264400" y="3238500"/>
            <a:ext cx="3879850" cy="1428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장기적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인지도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이미지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구축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참여와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관계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형성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통합적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마케팅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활동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08100" y="3238500"/>
            <a:ext cx="3879850" cy="1428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즉각적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판매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촉진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중심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단기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증대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할인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쿠폰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혜택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171450" lvl="1" indent="-171450">
              <a:lnSpc>
                <a:spcPct val="189239"/>
              </a:lnSpc>
              <a:buClr>
                <a:srgbClr val="000000"/>
              </a:buClr>
              <a:buFont typeface="Arial"/>
              <a:buChar char="●"/>
            </a:pP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일회성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또는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단기</a:t>
            </a:r>
            <a:r>
              <a:rPr lang="en-US" sz="1364" dirty="0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364" dirty="0" err="1">
                <a:solidFill>
                  <a:srgbClr val="222323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실행</a:t>
            </a:r>
            <a:endParaRPr lang="en-US" sz="1364" dirty="0">
              <a:solidFill>
                <a:srgbClr val="222323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5015992B-9449-4B84-545D-41A458005273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캠페인과 프로모션의 관계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둘은 대립하는 개념이 아닙니다. 캠페인이라는 우산 아래 프로모션이 들어갑니다.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94560" y="1783080"/>
            <a:ext cx="7772400" cy="566928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783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 페 인   ( 3개월 · 브랜드 목표 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9456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A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오픈 할인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6052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B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포토존 이벤트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C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멤버십 적립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2514600"/>
            <a:ext cx="1828800" cy="685800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514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프로모션 D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클리어런스</a:t>
            </a:r>
            <a:endParaRPr lang="en-US" sz="10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1672" cy="274320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프로모션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3개월 ~ 1년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 ~ 1개월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인지도 · 이미지 · 관계 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즉각적 판매 촉진 · 단기 매출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성과 측정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· 참여 · 재방문 · 브랜드 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· 객단가 · 구매 전환율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여러 프로모션과 콘텐츠를 묶은 상위 활동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캠페인을 구성하는 개별 실행 단위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실패의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메시지가 채널마다 달라 기억되지 않음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할인은 했는데 이익이 남지 않음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462F1DD2-1D72-4FAD-1319-5CFD40243526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85800" y="323850"/>
            <a:ext cx="160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701929" y="11557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실제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사례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분석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460" y="2132856"/>
            <a:ext cx="3676650" cy="39941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74060" y="3421906"/>
            <a:ext cx="5892800" cy="210312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롯데백화점 ESG 캠페인은 사회적 가치와 브랜드 이미지를 결합했고, </a:t>
            </a: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스타벅스 프리퀀시는 멤버십을 통해 고객 충성도를 강화했습니다. </a:t>
            </a: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올리브영 올영세일은 한정 기간 할인으로 긴급 구매를 유도했으며, </a:t>
            </a: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무신사 블랙프라이데이는 글로벌 쇼핑 문화를 성공적으로 도입했습니다. </a:t>
            </a:r>
          </a:p>
          <a:p>
            <a:pPr lvl="0" algn="l">
              <a:lnSpc>
                <a:spcPct val="124499"/>
              </a:lnSpc>
            </a:pPr>
            <a:endParaRPr lang="en-US" sz="1558" dirty="0" err="1">
              <a:solidFill>
                <a:srgbClr val="434464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이들 캠페인은 모두 특정 고객층의 심리와 구매 행동을 정확히 파악하고 자극한 전략적 설계의 결과입니다.</a:t>
            </a:r>
          </a:p>
          <a:p>
            <a:pPr lvl="0" algn="l">
              <a:lnSpc>
                <a:spcPct val="124499"/>
              </a:lnSpc>
            </a:pPr>
            <a:endParaRPr lang="en-US" sz="1558" dirty="0" err="1">
              <a:solidFill>
                <a:srgbClr val="434464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24499"/>
              </a:lnSpc>
            </a:pPr>
            <a:r>
              <a:rPr lang="en-US" sz="1558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다음 장부터는 국내 대표 리테일 캠페인 5가지를 MD 관점에서 자세히 살펴봅니다.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4060" y="2463056"/>
            <a:ext cx="591185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성공</a:t>
            </a:r>
            <a:r>
              <a:rPr lang="en-US" sz="2200" dirty="0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200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캠페인의</a:t>
            </a:r>
            <a:r>
              <a:rPr lang="en-US" sz="2200" dirty="0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200" dirty="0" err="1">
                <a:solidFill>
                  <a:srgbClr val="434464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공통점</a:t>
            </a:r>
            <a:endParaRPr lang="en-US" sz="2200" dirty="0">
              <a:solidFill>
                <a:srgbClr val="434464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994CCB39-D6C1-E931-E374-A0D789AF95B4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국내 대표 리테일 캠페인 5가지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ESG·사회공헌 캠페인도 결국 고객 경험과 상품으로 이어질 때 MD의 무기가 됩니다.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054096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2514600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283464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146304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286207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기업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핵심 방식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MD 관점의 포인트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RE:EARTH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친환경 · 업사이클링 · 플로깅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고객 참여형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→ 체험 → 상품 판매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현대백화점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Green Friends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친환경 행동 → 마일리지 · 포인트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리워드형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행동을 구매 혜택과 연결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신세계백화점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SHINSEGAE LOVES THE EARTH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친환경 상품 · 캐릭터 · 패키지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브랜드 브랜딩형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ESG를 브랜드 자산으로 구축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롯데백화점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RE:JOICE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마음건강 · 상담 · 문화 프로그램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경험형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사회적 이슈를 고객 경험으로 전환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이마트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가플지우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플라스틱 수거 · 업사이클링 · 해양보호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여러 기업이 함께 만드는 참여형 캠페인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11091672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5120640"/>
            <a:ext cx="1042416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사례를 읽는 방법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다섯 캠페인 모두 '좋은 일'에서 멈추지 않고 고객 행동 → 경험 → 상품 · 혜택으로 이어지는 구조를 가지고 있습니다.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사례를 볼 때는 '무엇을 했나'보다 '고객을 어떤 순서로 움직였나'를 보십시오. 그 순서가 우리 캠페인의 설계도가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①  롯데백화점 「RE:EARTH」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친환경 상품을 파는 캠페인이 아니라, 고객이 직접 환경 활동에 참여하도록 만든 캠페인입니다.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참여형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환경문제 인식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25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9153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참여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8771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9667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체험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928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018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업사이클링 상품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979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0694" y="2331720"/>
            <a:ext cx="1969617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구매 · 기부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시티 플로깅 · 비치코밍을 진행하고, 수거한 쓰레기를 RE:EARTH 부스에서 제로웨이스트 · 업사이클링 상품으로 교환하도록 운영했습니다.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2023년 롯데월드몰에 RE:EARTH 체험관을 열어 업사이클링 상품 판매, 친환경 아트워크, 이벤트를 결합했습니다.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백화점 VMD에 사용했던 플라스틱을 재활용해 고객 휴게공간을 만들었습니다.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ESG 캠페인이라고 ESG 이야기만 하지 않고, 참여 → 체험 → 상품으로 연결했습니다.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고객의 '행동'이 매장 방문과 상품 접점으로 이어지도록 동선을 설계한 것이 핵심입니다.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뷰티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공병 가져오기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01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76038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포인트 지급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71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46036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친환경 뷰티 브랜드 팝업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1714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6034" y="5650992"/>
            <a:ext cx="1995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상품 구매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②  현대백화점 「Green Friends」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고객의 친환경 행동을 마일리지와 쇼핑 혜택으로 연결한 고객 참여형 프로그램입니다.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리워드형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행동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25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9153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친환경 활동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8771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9667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마일리지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928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018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쇼핑 혜택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979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0694" y="2331720"/>
            <a:ext cx="1969617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반복 참여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장바구니 사용, 카페H 텀블러 사용, 식품관 다회용기 사용, 휴대폰 리사이클 등을 대상 활동으로 운영하고 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고객의 친환경 활동을 H.Point 등 고객 혜택과 연결해 운영해 왔습니다.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'착한 행동을 하면 쇼핑 혜택을 준다'는 단순한 구조가 반복 참여를 만듭니다.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행동 → 포인트 → 재방문 → 구매로 이어지는 순환 구조는 어느 카테고리에도 옮겨 쓸 수 있는 모델입니다.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혜택이 '할인'이 아니라 '행동의 보상'이어서 가격 경쟁 없이도 참여 동기를 만듭니다.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반려동물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반려동물 용품 기부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포인트 지급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펫 브랜드 할인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펫페어 참여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구매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③  신세계백화점 「SHINSEGAE LOVES THE EARTH」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캠페인을 일회성 행사가 아니라 백화점의 브랜드 자산으로 쌓아 올린 사례입니다.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브랜드 브랜딩형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8172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9068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캐릭터 · 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8599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9495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패키지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3902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9923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상품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9455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0351" y="2331720"/>
            <a:ext cx="1589532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매장 VMD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39883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0779" y="2331720"/>
            <a:ext cx="1589532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경험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'신초록'과 '이푸름' 캐릭터를 개발해 재활용 소재 장바구니와 광고물 등에 활용했습니다.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 캠페인으로 2021 iF 디자인 어워드를 수상했습니다.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친환경 쇼핑백, 에코 패키지 등 실제 상품 · 포장 영역까지 캠페인을 확장했습니다.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RE:EARTH가 고객 참여형에 가깝다면, 신세계는 캠페인 자체를 백화점의 브랜드 자산으로 만드는 방식입니다.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하나의 캠페인이 여러 MD 카테고리를 관통하므로, 카테고리별 기획이 같은 언어로 말하게 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식품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캐릭터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에코 패키지 기프트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식품관 VMD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SNS 인증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재구매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④  롯데백화점 「RE:JOICE」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환경이 아니라 고객의 마음을 소재로, 사회적 이슈를 고객 경험으로 바꾼 캠페인입니다.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경험형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고객의 문제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257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9153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콘텐츠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8771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9667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공간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928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0180" y="2331720"/>
            <a:ext cx="1969617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서비스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979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0694" y="2331720"/>
            <a:ext cx="1969617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관계 형성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2017년 여성의 우울증에 대한 인식 개선에서 시작해 상담, 힐링 프로그램, 문화 프로그램으로 확장했습니다.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리조이스 카페처럼 실제 공간을 만들고 상담 서비스를 제공했습니다.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최근에도 사회공헌 캠페인으로 지속 운영하고 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'상품 → 고객'이 아니라 '고객의 문제 → 콘텐츠 → 공간 → 서비스'의 순서로 설계했습니다.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웰니스, 마음건강, 수면, 여성 라이프스타일, 시니어, 육아, 반려동물도 같은 방식으로 캠페인화할 수 있습니다.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리빙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수면 고민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수면 클래스 · 상담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슬립 라운지 체험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침구 · 수면용품 제안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멤버십 연결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사례 ⑤  이마트 「가플지우」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'가져와요 플라스틱, 지켜가요 우리 바다' — 여러 기업이 함께 만드는 참여형 플랫폼 캠페인입니다.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2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기업 연합형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8308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3282696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유통사 · 제조사 · 환경기업 · 공공기관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31336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2232" y="2331720"/>
            <a:ext cx="1641348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공동 캠페인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3580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6" y="2331720"/>
            <a:ext cx="1641348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플라스틱 수거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35824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331720"/>
            <a:ext cx="1641348" cy="566928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업사이클링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88068" y="2331720"/>
            <a:ext cx="3108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98964" y="2331720"/>
            <a:ext cx="1641348" cy="566928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1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해양보호 교육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개요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2018년 이마트 · 테라사이클 · 한국P&amp;G가 함께 시작했습니다.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2026년에는 참여 기업이 19개사로 확대됐습니다.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플라스틱 수거, 업사이클링, 해안 정화, 해양보호 교육 등을 진행하고 있습니다.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315468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73952" y="32918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MD가 배울 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57600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유통사 혼자가 아니라 유통사 + 제조사 + 환경기업 + 공공기관을 묶어 '캠페인 = 기업 공동 플랫폼'으로 만들었습니다.</a:t>
            </a:r>
          </a:p>
          <a:p>
            <a:pPr marL="146304" indent="-146304" algn="l">
              <a:lnSpc>
                <a:spcPts val="1600"/>
              </a:lnSpc>
              <a:spcAft>
                <a:spcPts val="300"/>
              </a:spcAft>
              <a:buFont typeface="Arial"/>
              <a:buChar char="•"/>
            </a:pPr>
            <a:r>
              <a:rPr lang="ko-KR" sz="110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협력 기업이 비용과 콘텐츠를 나눠 맡기 때문에 캠페인의 규모와 지속성이 커집니다.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539496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ko-KR" sz="105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적용 예시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ko-KR" sz="12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패션 MD라면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606040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헌 옷 수거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47718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22038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협력 브랜드 리사이클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63716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8036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업사이클 굿즈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9715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54035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참여 브랜드 공동 프로모션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95713" y="5650992"/>
            <a:ext cx="2743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0033" y="5650992"/>
            <a:ext cx="154167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4864" tIns="32918" rIns="54864" bIns="32918" rtlCol="0" anchor="ctr">
            <a:noAutofit/>
          </a:bodyPr>
          <a:lstStyle/>
          <a:p>
            <a:pPr marL="0" indent="0" algn="ctr">
              <a:buNone/>
            </a:pPr>
            <a:r>
              <a:rPr lang="ko-KR" sz="10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구매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유형 5가지로 다시 읽기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사례를 유형으로 읽으면, 우리 캠페인을 설계할 때 고를 수 있는 선택지가 됩니다.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참여형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롯데 RE:EARTH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참여 → 리워드 → 상품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고객이 직접 움직이게 해 방문과 체험을 늘리고 싶을 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3550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03550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68142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8142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리워드형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68142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8142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현대 Green Friends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68142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68142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행동 → 포인트 → 재방문 → 구매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68142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68142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반복 방문과 회원 활동을 키우고 싶을 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8460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58460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223052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23052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브랜드 브랜딩형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23052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23052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신세계 SHINSEGAE LOVES THE EARTH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23052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23052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→ 캐릭터 → 상품 → VMD → 브랜드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23052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3052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백화점의 이미지를 장기적으로 쌓고 싶을 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3371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13371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77963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77963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경험형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7963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7963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롯데 RE:JOICE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77963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77963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문제 → 공간 → 체험 → 관계 형성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77963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7963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고객의 고민을 해결하며 관계를 만들고 싶을 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68281" y="1783080"/>
            <a:ext cx="207203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568281" y="1783080"/>
            <a:ext cx="2072030" cy="96012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32873" y="1892807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32873" y="2167128"/>
            <a:ext cx="179771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기업 연합형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32873" y="288036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대표 사례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32873" y="3108960"/>
            <a:ext cx="179771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이마트 가플지우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32873" y="365760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설계 공식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32873" y="3886200"/>
            <a:ext cx="179771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유통사 + 브랜드 + 공공기관 → 공동 캠페인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32873" y="4526280"/>
            <a:ext cx="179771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이럴 때 쓴다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32873" y="4754880"/>
            <a:ext cx="179771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규모와 지속성, 협력 브랜드의 참여가 필요할 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다음 단계에서는 고객 트렌드를 분석해 이 다섯 유형 중 하나를 고릅니다.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트렌드가 고객이 처한 상황을 알려 준다면, 캠페인 유형은 그 상황에 어떻게 응답할지를 알려 줍니다.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92150" y="323850"/>
            <a:ext cx="1714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9" name="TextBox 9"/>
          <p:cNvSpPr txBox="1"/>
          <p:nvPr/>
        </p:nvSpPr>
        <p:spPr>
          <a:xfrm>
            <a:off x="659396" y="2603501"/>
            <a:ext cx="324485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233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 트렌드 분석에서 출발하는 5단계 프로세스로 캠페인을 설계하고 실행합니다. </a:t>
            </a:r>
          </a:p>
          <a:p>
            <a:pPr lvl="0" algn="l">
              <a:lnSpc>
                <a:spcPct val="141100"/>
              </a:lnSpc>
            </a:pPr>
            <a:r>
              <a:rPr lang="en-US" sz="1233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각 단계는 트렌드 신호 확인부터 성과 측정까지 유기적으로 연결됩니다.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49" y="1797050"/>
            <a:ext cx="3606799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설계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프로세스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개요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587500"/>
            <a:ext cx="336550" cy="336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2546350"/>
            <a:ext cx="336550" cy="336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464050"/>
            <a:ext cx="336550" cy="3365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3505200"/>
            <a:ext cx="336550" cy="33655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5422900"/>
            <a:ext cx="336550" cy="33655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127750" y="19621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소비 트렌드와 우리 고객 데이터에서 변화의 신호 확인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40450" y="1587500"/>
            <a:ext cx="2032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1: 트렌드 분석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27750" y="29210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신규회원 · 인지도 · 매출 목표와 신호가 강한 고객층 선정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40450" y="2546350"/>
            <a:ext cx="36068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2: 목표 설정 · 타깃 정의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27750" y="38798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트렌드가 만든 고객의 상황 · 불만 · 욕구를 문장으로 정리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0450" y="3505200"/>
            <a:ext cx="45974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3: 고객 Insight 도출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27750" y="48387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5가지 캠페인 유형 중 전략을 고르고 경험과 핵심 메시지 수립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40450" y="4464050"/>
            <a:ext cx="38862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4: 캠페인 유형 · 컨셉 개발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27750" y="57975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성공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측정을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위한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정량·정성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지표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결정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40450" y="5422900"/>
            <a:ext cx="4064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STEP 5: KPI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0" y="16065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1000" y="25654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000" y="44831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1000" y="35242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73700" y="5441950"/>
            <a:ext cx="20320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A38643E3-FEFF-AAFD-0091-A34B688751C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92150" y="323850"/>
            <a:ext cx="1714500" cy="219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9" name="TextBox 9"/>
          <p:cNvSpPr txBox="1"/>
          <p:nvPr/>
        </p:nvSpPr>
        <p:spPr>
          <a:xfrm>
            <a:off x="615950" y="3124200"/>
            <a:ext cx="3168650" cy="717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학습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이론을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상황에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적용하는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종합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실습입니다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롯데백화점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20~30대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신규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확보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캠페인을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기획합니다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프로젝트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개요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과제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16200000">
            <a:off x="7480300" y="-1066800"/>
            <a:ext cx="1441450" cy="6413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6200000">
            <a:off x="7480300" y="-1066800"/>
            <a:ext cx="1441450" cy="641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6864350" y="2139950"/>
            <a:ext cx="546100" cy="63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16200000">
            <a:off x="7480300" y="615950"/>
            <a:ext cx="1441450" cy="6413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16200000">
            <a:off x="7480300" y="615950"/>
            <a:ext cx="1441450" cy="6413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6864350" y="3822700"/>
            <a:ext cx="546100" cy="635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16200000">
            <a:off x="7480300" y="2324100"/>
            <a:ext cx="1441450" cy="6413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16200000">
            <a:off x="7480300" y="2324100"/>
            <a:ext cx="1441450" cy="6413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6864350" y="5530850"/>
            <a:ext cx="546100" cy="635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 rot="16200000">
            <a:off x="4610100" y="1885950"/>
            <a:ext cx="127635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 rot="16200000">
            <a:off x="4610100" y="3568700"/>
            <a:ext cx="1276350" cy="50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 rot="16200000">
            <a:off x="4610100" y="5276850"/>
            <a:ext cx="1276350" cy="50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1550" y="1924050"/>
            <a:ext cx="431800" cy="431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550" y="3606800"/>
            <a:ext cx="431800" cy="431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550" y="5321300"/>
            <a:ext cx="431800" cy="4318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13400" y="1841500"/>
            <a:ext cx="1485900" cy="298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프로젝트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상황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454900" y="1822450"/>
            <a:ext cx="3956050" cy="6159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롯데백화점의 20~30대 신규 고객 확보 캠페인을 고객 트렌드 분석에서 출발해 기획하며 마케팅팀 역할을 수행합니다.</a:t>
            </a:r>
          </a:p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 신호와 고객 데이터를 근거로 실무 기획 능력을 개발합니다.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13400" y="3524250"/>
            <a:ext cx="1485900" cy="298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팀별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기획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과제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454900" y="3505200"/>
            <a:ext cx="395605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캠페인명, 슬로건, 컨셉, 운영계획, 홍보 전략, KPI 설정 6가지 핵심 요소를 개발합니다.</a:t>
            </a:r>
          </a:p>
          <a:p>
            <a:pPr lvl="0" algn="l">
              <a:lnSpc>
                <a:spcPct val="131970"/>
              </a:lnSpc>
            </a:pP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선택한 트렌드 키워드와 캠페인 유형을 근거로 캠페인명과 핵심 메시지를 제안합니다.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13400" y="5232400"/>
            <a:ext cx="1485900" cy="298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실행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세부사항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454900" y="5213350"/>
            <a:ext cx="395605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1970"/>
              </a:lnSpc>
            </a:pP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일정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장소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예산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프로그램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협력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실행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운영계획을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수립합니다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  <a:p>
            <a:pPr lvl="0" algn="l">
              <a:lnSpc>
                <a:spcPct val="131970"/>
              </a:lnSpc>
            </a:pP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릴스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인플루언서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라이브커머스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멤버십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연계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채널별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홍보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전략과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KPI를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054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설정합니다</a:t>
            </a:r>
            <a:r>
              <a:rPr lang="en-US" sz="1054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43450" y="2000250"/>
            <a:ext cx="51435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43450" y="3689350"/>
            <a:ext cx="51435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43450" y="5397500"/>
            <a:ext cx="51435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03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="" xmlns:a16="http://schemas.microsoft.com/office/drawing/2014/main" id="{A2D840D0-763B-2874-BFC4-2744354D80A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트렌드에서 캠페인 전략으로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트렌드는 모두에게 똑같이 주어집니다. 차이는 우리 고객 데이터에서 그 신호를 확인하는 데서 나옵니다.</a:t>
            </a:r>
            <a:endParaRPr lang="en-US" sz="12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2148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 탐색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무엇이 바뀌고 있는가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소비 트렌드 보고서, 뉴스, SNS 키워드에서 고객 변화의 방향을 찾습니다.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6392" y="1783080"/>
            <a:ext cx="246888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20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783080"/>
            <a:ext cx="2587752" cy="2148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8444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8444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우리 고객 신호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우리 고객에게도 나타나는가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8444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방문 목적, 카테고리 매출, 체류 시간, 문의 데이터로 트렌드가 실제로 나타나는지 확인합니다.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71032" y="1783080"/>
            <a:ext cx="246888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20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2587752" cy="21488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908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908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상황 해석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그래서 고객은 어떤 상황인가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908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트렌드를 '[상황]일 때 [행동]하는데 [욕구]를 느낀다'로 바꿔 인사이트의 재료로 만듭니다.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05672" y="1783080"/>
            <a:ext cx="246888" cy="2148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sz="20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1783080"/>
            <a:ext cx="2587752" cy="2148840"/>
          </a:xfrm>
          <a:prstGeom prst="rect">
            <a:avLst/>
          </a:prstGeom>
          <a:solidFill>
            <a:srgbClr val="E05A3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53728" y="1947672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STEP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53728" y="2221991"/>
            <a:ext cx="222199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5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유형 · MD 연결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53728" y="2624328"/>
            <a:ext cx="2221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어떻게 응답할 것인가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53728" y="2971800"/>
            <a:ext cx="2221992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다섯 가지 캠페인 유형 중 하나를 고르고, 연결할 카테고리와 상품을 정합니다.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1109167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4114800"/>
            <a:ext cx="14630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적용 예시</a:t>
            </a:r>
            <a:endParaRPr lang="ko-KR" sz="120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148840" y="4114800"/>
            <a:ext cx="93268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필코노미  →  20~30대 방문 목적 1위 '기분 전환' 38%  →  "퇴근 후 기분이 가라앉는데 딱히 풀 곳이 없다"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→  경험형 캠페인 (RE:JOICE 벤치마킹)  +  뷰티 · F&amp;B · 리빙 카테고리 연결</a:t>
            </a:r>
            <a:endParaRPr lang="ko-KR" sz="1150" b="0" dirty="0">
              <a:solidFill>
                <a:srgbClr val="131313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166360"/>
            <a:ext cx="3575304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7240" y="5285232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 나열은 전략이 아닙니다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59612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키워드를 다섯 개 모아 놓은 것은 조사입니다. 하나를 고르고 나머지를 버려야 전략이 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06824" y="5166360"/>
            <a:ext cx="3575304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35424" y="5285232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데이터 없는 트렌드는 버리십시오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5424" y="559612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유행하는 키워드라도 우리 고객 데이터에 신호가 없으면 우리 캠페인의 근거가 될 수 없습니다.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5166360"/>
            <a:ext cx="3575304" cy="12344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93608" y="5285232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트렌드는 상품까지 내려와야 합니다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93608" y="5596128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sz="10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고객 상황 → 캠페인 유형 → 카테고리 · 상품으로 연결되지 않으면 MD의 캠페인이 아닙니다.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2026 소비 트렌드와 리테일 캠페인 기회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『트렌드 코리아 2026』 10대 키워드 가운데 백화점 캠페인과 관계가 깊은 여섯 가지를 골랐습니다.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2724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2240280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315468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251460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176479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핵심 의미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백화점 고객에게 나타나는 모습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어울리는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기분이 소비를 결정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전환을 위해 목적 없이 방문하고, 작은 보상 구매를 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전환 코스 · 감정 테마 팝업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경험형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작고 짧은 경험을 촘촘히 쌓는 삶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머물며 팝업 · F&amp;B 위주로 자주 방문함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30분 단위 미니 체험 · 스탬프 코스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고객 참여형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프라이스 디코딩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가격이 왜 이 값인지 따져 보는 소비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할인율보다 가격의 이유 · 가치 설명에 반응함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가치 설명형 큐레이션 · 행동 보상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리워드형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건강지능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건강을 소비가 아닌 설계로 관리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웰니스 · 수면 · 운동 카테고리에 관심이 커짐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웰니스 클래스 · 측정 · 상담 결합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경험형 ·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 살지만 연결은 원하는 생활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1인 단위 소비, 반려동물 · 소모임과 함께 방문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· 소모임 클래스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고객 참여형 · 리워드형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근본이즘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AI 시대에 원조 · 진짜를 찾음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장인 · 헤리티지 · 원산지 이야기에 관심을 보임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헤리티지 · 원조 스토리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브랜드 브랜딩형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66360"/>
            <a:ext cx="11091672" cy="777240"/>
          </a:xfrm>
          <a:prstGeom prst="rect">
            <a:avLst/>
          </a:prstGeom>
          <a:solidFill>
            <a:srgbClr val="FBED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5166360"/>
            <a:ext cx="10424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ko-KR" sz="1150" b="1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함께 볼 키워드  ·  제로클릭  </a:t>
            </a:r>
            <a:r>
              <a:rPr lang="ko-KR" sz="1150" b="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AI 검색이 답을 바로 요약해 주는 시대에는 캠페인명과 핵심 메시지가 한 문장으로 요약될 만큼 단순해야 고객에게 닿습니다.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080760"/>
            <a:ext cx="11091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00" b="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키워드는 『트렌드 코리아 2026』(김난도 외) 기준이며, 고객 모습 · 캠페인 기회 · 유형 연결은 교육용 해석입니다.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케이스 ①  ·  캠페인 조건과 현황 자료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모든 실습은 이 자료와 다음 장의 고객 트렌드 신호를 근거로 진행합니다. 목표는 이미 정해져 있습니다.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39822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현황 · 조건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참고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조건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(시기는 팀이 제안)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분석 결과로 결정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총 예산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5억원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채널·운영 포함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행사 공간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1층 아트리움 + 팝업 존 2개소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동선 연결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현황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20~30대 방문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24%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전체 평균 대비 낮음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월 신규 회원 (20~30대)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1,800명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3주 기준 약 1,350명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보유 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팔로워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12만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평균 도달률 8%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구독자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3.2만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숏폼 반응 양호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MAU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85만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기존 회원 중심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전년 대비 +12%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동일 예산 규모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신규 회원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기준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SNS 도달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 중심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경쟁 상황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경쟁 백화점 캠페인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25만 추정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대규모 활용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52160"/>
            <a:ext cx="11091672" cy="658368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521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주어진 목표   신규 고객 40% 이상 · 매출 25% 증가 · SNS 도달 10만 이상 · 신규 회원 5,000명 이상 · 만족도 85% 이상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직전 캠페인 실적은 신규 회원 2,300명 · SNS 도달 6.5만입니다. 목표는 두 배가 넘습니다. 같은 방식으로는 도달할 수 없습니다.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3796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교육용으로 구성한 가상 데이터입니다.</a:t>
            </a:r>
            <a:endParaRPr 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케이스 ②  ·  20~30대 고객 트렌드 신호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 키워드가 우리 고객에게 실제로 나타나는지 보여 주는 데이터입니다. 신호가 강한 것을 고르십시오.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1" cy="38679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3749039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123444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350215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지표 (20~30대)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현황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전년 대비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생각해 볼 질문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목적 1위 '기분 전환 · 산책' 응답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38%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+9%p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목적 없이 온 고객을 무엇으로 머물게 할까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41%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+6%p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 전환 수요는 어떤 모습일까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1회 평균 체류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52분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−14분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머무는 고객에게 맞는 경험의 단위는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방문 후 다른 층 이동률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22%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−5%p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팝업이 매장 방문으로 이어지지 않는 이유는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프라이스 디코딩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가치 설명형 기획전의 구매 전환율 (할인 행사 대비)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1.4배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신규 측정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할인보다 무엇이 지갑을 열게 하는가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건강지능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웰니스 · 헬스 카테고리 매출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+31%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3년 연속 증가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건강을 '설계'하려는 고객에게 무엇을 줄까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방문 문의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월 1,150건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+45%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혼자지만 함께이고 싶은 고객의 동선은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1인 고객 구매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46%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+5%p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1인 단위 상품 · 서비스는 충분한가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근본이즘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헤리티지 · 장인 테마 팝업의 SNS 저장 수 (일반 팝업 대비)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2.3배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백화점만의 '원조' 이야기는 무엇인가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제로클릭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유입 중 검색 · AI 요약 경유 비중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18%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E05A38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+7%p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캠페인이 한 문장으로 요약되는가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52160"/>
            <a:ext cx="11091672" cy="658368"/>
          </a:xfrm>
          <a:prstGeom prst="rect">
            <a:avLst/>
          </a:prstGeom>
          <a:solidFill>
            <a:srgbClr val="FBEDE9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521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트렌드는 여섯 개지만 캠페인은 하나입니다. 신호가 가장 강하고 우리 목표(20~30대 신규 고객 확보)와 가장 가까운 트렌드를 고르십시오.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두 개의 신호가 같은 고객 상황을 가리킨다면, 그것이 가장 믿을 만한 근거입니다.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3796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교육용으로 구성한 가상 데이터입니다.</a:t>
            </a:r>
            <a:endParaRPr 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8760CCA7-6747-D7AC-0B91-430E1B7CBF3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고객 트렌드 분석과 캠페인 방향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1874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2926080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301752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149047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신호 (케이스 ② 데이터)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이 신호가 말하는 고객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신호 강도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3776472"/>
          <a:ext cx="11091672" cy="24871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8348472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정하기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작성란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선택한 트렌드 1개와 그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0" dirty="0">
                          <a:solidFill>
                            <a:srgbClr val="6B6B6B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고객 참여형     □ 리워드형     □ 브랜드 브랜딩형     □ 경험형     □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벤치마킹 사례와 가져올 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연결할 MD 카테고리 · 상품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한 문장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100" b="0" dirty="0">
                        <a:solidFill>
                          <a:srgbClr val="131313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형식   "[어떤 고객]이 [어떤 상황]일 때, [캠페인 유형]으로 [어떤 경험]을 제공해 [목표]를 달성한다"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고객 트렌드 분석과 캠페인 방향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18745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2926080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  <a:gridCol w="3017520">
                  <a:extLst>
                    <a:ext uri="{9D8B030D-6E8A-4147-A177-3AD203B41FA5}">
                      <a16:colId xmlns="" xmlns:a16="http://schemas.microsoft.com/office/drawing/2014/main" val="30002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30003"/>
                    </a:ext>
                  </a:extLst>
                </a:gridCol>
                <a:gridCol w="1490472">
                  <a:extLst>
                    <a:ext uri="{9D8B030D-6E8A-4147-A177-3AD203B41FA5}">
                      <a16:colId xmlns="" xmlns:a16="http://schemas.microsoft.com/office/drawing/2014/main" val="3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트렌드 키워드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우리 고객 신호 (케이스 ② 데이터)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이 신호가 말하는 고객 상황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기회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신호 강도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목적 1위 '기분 전환' 38% (+9%p) · 평일 18~21시 방문 41% (+6%p)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기분을 풀려고 들르지만 머물 이유가 없어 금방 나간다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30분 기분 전환 코스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강  □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픽셀 라이프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1회 체류 52분 (−14분) · 팝업 후 다른 층 이동률 22%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들러 팝업만 보고 떠난다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층을 잇는 미니 체험 · 스탬프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1.5가구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방문 문의 월 1,150건 (+45%)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혼자 살지만 반려동물과 함께 나올 곳을 찾는다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반려동물 동반 라운지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강  ■ 중  □ 약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3776472"/>
          <a:ext cx="11091672" cy="24871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="" xmlns:a16="http://schemas.microsoft.com/office/drawing/2014/main" val="30000"/>
                    </a:ext>
                  </a:extLst>
                </a:gridCol>
                <a:gridCol w="8348472">
                  <a:extLst>
                    <a:ext uri="{9D8B030D-6E8A-4147-A177-3AD203B41FA5}">
                      <a16:colId xmlns="" xmlns:a16="http://schemas.microsoft.com/office/drawing/2014/main" val="3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정하기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작성란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선택한 트렌드 1개와 그 이유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두 신호(방문 목적 1위, 평일 저녁 방문 증가)가 같은 고객 상황을 가리키고, 20~30대 신규 유입 목표와 가장 가깝습니다.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유형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고객 참여형     □ 리워드형     □ 브랜드 브랜딩형     ■ 경험형     □ 기업 연합형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벤치마킹 사례와 가져올 요소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 RE:JOICE — '고객의 문제 → 콘텐츠 → 공간 → 서비스' 순서와, 실제 머무는 공간을 만든 방식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연결할 MD 카테고리 · 상품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뷰티(향 · 핸드케어), F&amp;B(디저트 · 티), 리빙(캔들 · 홈프래그런스), 원데이 클래스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0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캠페인 방향 한 문장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기분이 가라앉은 20~30대 직장인이 평일 저녁 30분 만에 기분을 바꾸는 경험형 캠페인으로 신규 회원 5,000명을 확보한다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8251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형식   "[어떤 고객]이 [어떤 상황]일 때, [캠페인 유형]으로 [어떤 경험]을 제공해 [목표]를 달성한다"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635000" y="1271588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목표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타깃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정의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2382838"/>
            <a:ext cx="4851400" cy="396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0" y="2382838"/>
            <a:ext cx="4851400" cy="3962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11300" y="5106988"/>
            <a:ext cx="4375150" cy="717550"/>
          </a:xfrm>
          <a:prstGeom prst="rect">
            <a:avLst/>
          </a:prstGeom>
        </p:spPr>
        <p:txBody>
          <a:bodyPr lIns="0" tIns="898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인지도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향상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신규회원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확보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SNS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확대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오프라인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방문객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증가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직접적인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향상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명확하고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설정합니다</a:t>
            </a:r>
            <a:endParaRPr lang="en-US" sz="1415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73200" y="4573588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목표의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예시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04000" y="5106988"/>
            <a:ext cx="4375150" cy="717550"/>
          </a:xfrm>
          <a:prstGeom prst="rect">
            <a:avLst/>
          </a:prstGeom>
        </p:spPr>
        <p:txBody>
          <a:bodyPr lIns="0" tIns="898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20대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대학생은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트렌드에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민감하고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30대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직장인은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편의성과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중시하며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40대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가족은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안정성과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품질을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추구하는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특성을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보입니다</a:t>
            </a:r>
            <a:endParaRPr lang="en-US" sz="1415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65900" y="4573588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타깃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세분화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0C521CD4-AFAF-9B06-2A78-C999E9BC4C1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②  캠페인 목표와 타깃 정의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목표를 캠페인 언어로 다시 쓰고, 실습 ①의 트렌드로 타깃을 좁히십시오.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242316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주어진 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캠페인의 목표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실적 대비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 → 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확대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10만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 → 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증대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25% 증가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만족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만족도 85%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4343400"/>
          <a:ext cx="11091672" cy="1929915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타깃 세분화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연령 · 직업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특성 · 트렌드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백화점에 오지 않는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우선순위 (1 / 2)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목표를 모두 주 목표로 삼을 수는 없습니다. 주 목표 하나와 부 목표 하나를 정하십시오.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②  캠페인 목표와 타깃 정의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목표를 캠페인 언어로 다시 쓰고, 실습 ①의 트렌드로 타깃을 좁히십시오.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97159"/>
              </p:ext>
            </p:extLst>
          </p:nvPr>
        </p:nvGraphicFramePr>
        <p:xfrm>
          <a:off x="548640" y="1783080"/>
          <a:ext cx="11091672" cy="2423160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주어진 목표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 캠페인의 목표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실적 대비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5,000명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저녁 기분 전환 코스 참여자를 신규 회원 5,000명으로 전환한다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 → 5,000명 (2.2배)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인지도 확대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10만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'오늘 기분' 콘텐츠로 20~30대 SNS 도달 10만을 만든다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 → 10만 (1.5배)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증대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매출 25% 증가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코스와 연결된 뷰티 · F&amp;B 매출 25% 증가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 만족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만족도 85% 이상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코스 참여 고객 만족도 85% 이상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74983"/>
              </p:ext>
            </p:extLst>
          </p:nvPr>
        </p:nvGraphicFramePr>
        <p:xfrm>
          <a:off x="548640" y="4343400"/>
          <a:ext cx="11091672" cy="1929915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타깃 세분화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세그먼트 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연령 · 직업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27~34세 사무직 직장인 (1인 가구 포함)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22~26세 대학생 · 사회초년생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특성 · 트렌드 신호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증가, 방문 목적 '기분 전환', 짧게 머묾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SNS로 팝업을 찾아와 팝업만 보고 이동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백화점에 오지 않는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"살 게 없으면 굳이 갈 이유가 없다", 격식 있는 공간이라는 부담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말고는 머물 이유가 없다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5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우선순위 (1 / 2)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목표를 모두 주 목표로 삼을 수는 없습니다. 주 목표 하나와 부 목표 하나를 정하십시오.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59396" y="126365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Insight와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81000"/>
          </a:blip>
          <a:stretch>
            <a:fillRect/>
          </a:stretch>
        </p:blipFill>
        <p:spPr>
          <a:xfrm>
            <a:off x="5149850" y="2635250"/>
            <a:ext cx="6350000" cy="383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606800"/>
            <a:ext cx="4908550" cy="28575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638800" y="3130550"/>
            <a:ext cx="545465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Insight의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유형</a:t>
            </a:r>
            <a:endParaRPr lang="en-US" sz="20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638800" y="4070350"/>
            <a:ext cx="54102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재미있는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소셜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미디어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인증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공간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합리적인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할인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혜택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독점적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한정판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제품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lvl="0" algn="l">
              <a:lnSpc>
                <a:spcPct val="132800"/>
              </a:lnSpc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특별한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이벤트</a:t>
            </a: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endParaRPr lang="en-US" sz="1488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2533650"/>
            <a:ext cx="3949700" cy="37846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3C1B761E-63F9-5E46-577C-F77EA4FB4BC6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③  고객 인사이트 도출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"이런 걸 좋아할 것이다"가 아니라 "이런 상황에 있다"를 적으십시오.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11091672" cy="4572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7190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인사이트 작성 형식   "[상황]일 때  [행동]하는데  [이유] 때문에  [불만·욕구]를 느낀다"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43103"/>
              </p:ext>
            </p:extLst>
          </p:nvPr>
        </p:nvGraphicFramePr>
        <p:xfrm>
          <a:off x="548640" y="2331720"/>
          <a:ext cx="11091672" cy="268650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No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인사이트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근거 (트렌드 신호 · 데이터 · 관찰)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□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인사이트 중 가장 강한 것과 그 이유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3232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13232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6199632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199632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364224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경쟁사가 아직 건드리지 않은 인사이트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364224" y="5870448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6364224" y="6199632"/>
            <a:ext cx="5111496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287BC776-A5A6-B60F-022A-6EF600D7FB4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③  고객 인사이트 도출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"이런 걸 좋아할 것이다"가 아니라 "이런 상황에 있다"를 적으십시오.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19072"/>
            <a:ext cx="11091672" cy="4572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71907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인사이트 작성 형식   "[상황]일 때  [행동]하는데  [이유] 때문에  [불만·욕구]를 느낀다"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43103"/>
              </p:ext>
            </p:extLst>
          </p:nvPr>
        </p:nvGraphicFramePr>
        <p:xfrm>
          <a:off x="548640" y="2331720"/>
          <a:ext cx="11091672" cy="268650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No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인사이트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근거 (트렌드 신호 · 데이터 · 관찰)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 후 기분이 가라앉는데 집에 가기 전 들를 곳이 없어서, 결국 편의점 디저트로 달랜다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41% · 방문 목적 1위 '기분 전환' 38%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경험 □ 가치 □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백화점은 살 게 있을 때만 가는 곳이라, 구경만 하면 눈치가 보여 오래 있지 못한다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후 다른 층 이동률 22% · 체류 시간 −14분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■ 가치 □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16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전환에 돈을 쓰고 싶지만, 비싼 상품 하나보다 작은 보상 여러 개가 더 좋다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· 프라이스 디코딩 · 현장 관찰 (소액 F&amp;B 구매)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경험 □ 가치 ■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세 인사이트 중 가장 강한 것과 그 이유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99632" y="52120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199632" y="5212080"/>
            <a:ext cx="5440680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364224" y="521208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경쟁사가 아직 건드리지 않은 인사이트</a:t>
            </a:r>
            <a:endParaRPr 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287BC776-A5A6-B60F-022A-6EF600D7FB4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577840"/>
            <a:ext cx="511149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1번 — 두 개의 데이터가 같은 상황(평일 저녁 · 기분 전환)을 가리키고, 신규 20~30대가 오는 시간대와 일치합니다.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4224" y="5577840"/>
            <a:ext cx="511149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2번 — 경쟁사는 인플루언서로 '살 이유'를 만들지만, '안 사도 와도 되는 곳'이라는 허락은 아무도 주지 않았습니다.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15950" y="3124200"/>
            <a:ext cx="3175000" cy="501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고객이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단 한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문장으로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기억하는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핵심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메시지는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</a:p>
          <a:p>
            <a:pPr lvl="0" algn="l">
              <a:lnSpc>
                <a:spcPct val="141100"/>
              </a:lnSpc>
            </a:pP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캠페인의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정체성을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결정합니다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핵심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메시지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587500"/>
            <a:ext cx="336550" cy="336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2546350"/>
            <a:ext cx="336550" cy="336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464050"/>
            <a:ext cx="336550" cy="3365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0" y="3505200"/>
            <a:ext cx="336550" cy="33655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5422900"/>
            <a:ext cx="336550" cy="33655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127750" y="19621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명확하고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단순한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표현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40450" y="1587500"/>
            <a:ext cx="2032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간결하다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127750" y="29210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반복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노출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시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자연스럽게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상기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40450" y="2546350"/>
            <a:ext cx="36068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기억하기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쉽다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27750" y="38798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감정과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욕구에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호소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0450" y="3505200"/>
            <a:ext cx="45974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감성을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자극한다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27750" y="48387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가치와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정체성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대표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40450" y="4464050"/>
            <a:ext cx="38862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브랜드와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연결된다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127750" y="57975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'Just Do It', 'Think Different', '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일상이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특별해지는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공간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40450" y="5422900"/>
            <a:ext cx="4064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글로벌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사례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0" y="16065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1000" y="25654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000" y="44831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1000" y="35242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73700" y="5441950"/>
            <a:ext cx="20320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86D955BC-5B16-7601-A387-65DD2584A0D6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인사이트에서 메시지로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좋은 메시지의 조건은 알아도, 만드는 방법을 모르면 카피가 나오지 않습니다.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737360"/>
            <a:ext cx="11064240" cy="566928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고객 인사이트  →  브랜드가 줄 수 있는 것  →  고객이 얻는 변화  →  한 문장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16530"/>
              </p:ext>
            </p:extLst>
          </p:nvPr>
        </p:nvGraphicFramePr>
        <p:xfrm>
          <a:off x="566928" y="2468880"/>
          <a:ext cx="11064240" cy="265231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무엇을 적나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 예시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실제로 느끼는 것 (본인의 말투로)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"퇴근 후 기분이 가라앉는데, 딱히 풀 곳이 없다"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우리가 실제로 제공 가능한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"잠깐 들러도 기분이 바뀌는 공간과 콘텐츠"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고객의 상태가 어떻게 달라지는가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"30분 만에 오늘의 기분이 달라진다"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304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한 문장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위 세 줄을 압축한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기분, 롯데에서 바꿔요"  (필코노미)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25780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22960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브랜드 자랑은 메시지가 아닙니다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5687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"최고의 상품을 만나보세요"는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우리 이야기입니다.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고객의 변화를 말해야 메시지입니다.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4256" y="525780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590288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짧게 만드는 것이 마지막입니다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90288" y="5687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처음부터 짧게 쓰려고 하면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알맹이가 빠집니다.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길게 쓴 뒤 깎아 내십시오.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01584" y="5257800"/>
            <a:ext cx="3520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357616" y="5394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읽지 말고 말해 보십시오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57616" y="56875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소리 내어 말했을 때 어색하면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고객도 기억하지 못합니다.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입에 붙는지가 최종 시험입니다.</a:t>
            </a:r>
            <a:endParaRPr lang="en-US" sz="1050" dirty="0"/>
          </a:p>
        </p:txBody>
      </p:sp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E56BD8BD-7895-D75C-1DBE-D1536D8D8A85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4850" y="323850"/>
            <a:ext cx="1981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캠페인명과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슬로건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050" y="2355850"/>
            <a:ext cx="3517900" cy="40830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2355850"/>
            <a:ext cx="3517900" cy="40830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0" y="2355850"/>
            <a:ext cx="3517900" cy="40830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2355850"/>
            <a:ext cx="3517900" cy="40830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178800" y="2540000"/>
            <a:ext cx="736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86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76750" y="2540000"/>
            <a:ext cx="736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86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2000" y="2540000"/>
            <a:ext cx="7366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786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16950" y="4941168"/>
            <a:ext cx="2806700" cy="298450"/>
          </a:xfrm>
          <a:prstGeom prst="rect">
            <a:avLst/>
          </a:prstGeom>
        </p:spPr>
        <p:txBody>
          <a:bodyPr lIns="0" tIns="8467" rIns="0" bIns="0" rtlCol="0" anchor="t"/>
          <a:lstStyle/>
          <a:p>
            <a:pPr lvl="0" algn="ctr">
              <a:lnSpc>
                <a:spcPct val="10955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예시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914900" y="4941168"/>
            <a:ext cx="2806700" cy="298450"/>
          </a:xfrm>
          <a:prstGeom prst="rect">
            <a:avLst/>
          </a:prstGeom>
        </p:spPr>
        <p:txBody>
          <a:bodyPr lIns="0" tIns="8467" rIns="0" bIns="0" rtlCol="0" anchor="t"/>
          <a:lstStyle/>
          <a:p>
            <a:pPr lvl="0" algn="ctr">
              <a:lnSpc>
                <a:spcPct val="10955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슬로건의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역할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31900" y="4941168"/>
            <a:ext cx="2806700" cy="298450"/>
          </a:xfrm>
          <a:prstGeom prst="rect">
            <a:avLst/>
          </a:prstGeom>
        </p:spPr>
        <p:txBody>
          <a:bodyPr lIns="0" tIns="8467" rIns="0" bIns="0" rtlCol="0" anchor="t"/>
          <a:lstStyle/>
          <a:p>
            <a:pPr lvl="0" algn="ctr">
              <a:lnSpc>
                <a:spcPct val="109559"/>
              </a:lnSpc>
            </a:pP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캠페인명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r>
              <a:rPr lang="en-US" sz="16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방향</a:t>
            </a:r>
            <a:endParaRPr lang="en-US" sz="16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700" y="3028950"/>
            <a:ext cx="2641600" cy="1905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" y="3308350"/>
            <a:ext cx="2127250" cy="117475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300" y="2832100"/>
            <a:ext cx="1479550" cy="2082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597900" y="5359400"/>
            <a:ext cx="2970708" cy="1409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'오늘 기분, 롯데에서 바꿔요': 필코노미</a:t>
            </a:r>
          </a:p>
          <a:p>
            <a:pPr lvl="0" algn="ctr">
              <a:lnSpc>
                <a:spcPct val="120350"/>
              </a:lnSpc>
            </a:pP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'혼자여도 함께, 우리 동네 롯데': 1.5가구</a:t>
            </a:r>
          </a:p>
          <a:p>
            <a:pPr lvl="0" algn="ctr">
              <a:lnSpc>
                <a:spcPct val="120350"/>
              </a:lnSpc>
            </a:pP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'30분이면 충분한 나의 웰니스': 건강지능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64100" y="5303118"/>
            <a:ext cx="290195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핵심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가치와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경험을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한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문장으로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압축하여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모든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마케팅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채널에서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반복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노출되어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기억도를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높입니다</a:t>
            </a:r>
            <a:r>
              <a:rPr lang="en-US" sz="1100" dirty="0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2850" y="5303118"/>
            <a:ext cx="2844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100" dirty="0" err="1">
                <a:solidFill>
                  <a:srgbClr val="000000">
                    <a:alpha val="70196"/>
                  </a:srgbClr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선택한 고객 트렌드 키워드를 반영해 타깃이 '내 이야기'로 느끼는 영문·국문 조합을 만듭니다.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B357425D-C4A6-62FA-960E-DC20D88024A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④  캠페인명과 슬로건 개발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인사이트 → 브랜드가 줄 것 → 고객의 변화 → 한 문장 순서로 만드십시오.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62515"/>
              </p:ext>
            </p:extLst>
          </p:nvPr>
        </p:nvGraphicFramePr>
        <p:xfrm>
          <a:off x="548640" y="1783080"/>
          <a:ext cx="11091672" cy="1627632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선택한 트렌드 ·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97425"/>
              </p:ext>
            </p:extLst>
          </p:nvPr>
        </p:nvGraphicFramePr>
        <p:xfrm>
          <a:off x="548640" y="3465004"/>
          <a:ext cx="11091672" cy="2057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안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안의 강점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우려되는 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7315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간결한가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46704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529584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기억하기 쉬운가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5"/>
          <p:cNvSpPr/>
          <p:nvPr/>
        </p:nvSpPr>
        <p:spPr>
          <a:xfrm>
            <a:off x="6327648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감성을 자극하는가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942832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125712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□  브랜드와 연결되는가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최종 선택안과 이유  ______________________________________________________________________________</a:t>
            </a:r>
            <a:endParaRPr lang="en-US" sz="1150" dirty="0"/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69A22C22-7AD8-7F92-F4A7-7A81D823EDB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④  캠페인명과 슬로건 개발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인사이트 → 브랜드가 줄 것 → 고객의 변화 → 한 문장 순서로 만드십시오.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62515"/>
              </p:ext>
            </p:extLst>
          </p:nvPr>
        </p:nvGraphicFramePr>
        <p:xfrm>
          <a:off x="548640" y="1783080"/>
          <a:ext cx="11091672" cy="1627632"/>
        </p:xfrm>
        <a:graphic>
          <a:graphicData uri="http://schemas.openxmlformats.org/drawingml/2006/table">
            <a:tbl>
              <a:tblPr/>
              <a:tblGrid>
                <a:gridCol w="33192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작성란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선택한 트렌드 · 고객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"퇴근 후 기분이 가라앉는데, 딱히 들를 곳이 없다"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브랜드가 줄 수 있는 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저녁 30분이면 둘러볼 수 있는 향 · 디저트 · 클래스 코스와 쉬어 가는 무드 라운지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고객이 얻는 변화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사지 않아도 기분이 바뀌어 집에 가고, 다시 오고 싶어진다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797425"/>
              </p:ext>
            </p:extLst>
          </p:nvPr>
        </p:nvGraphicFramePr>
        <p:xfrm>
          <a:off x="548640" y="3465004"/>
          <a:ext cx="11091672" cy="2057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5915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안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캠페인명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안의 강점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우려되는 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A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MOOD SHIFT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오늘 기분, 롯데에서 바꿔요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고객의 상황(기분)과 변화(바꾼다)가 한 문장에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'바꿔요'가 교환 행사처럼 들릴 수 있음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B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 MINUTES FOR ME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퇴근길 30분, 나에게 주는 선물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시간 단위가 명확, 픽셀 라이프와도 연결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'선물'이 구매로 읽혀 메시지와 충돌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롯데 무드 라운지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좋아지는 곳, 롯데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공간이 한눈에 떠오름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자랑에 가까워 고객의 변화가 약함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48640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731520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간결한가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346704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3529584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기억하기 쉬운가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44768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5"/>
          <p:cNvSpPr/>
          <p:nvPr/>
        </p:nvSpPr>
        <p:spPr>
          <a:xfrm>
            <a:off x="6327648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감성을 자극하는가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942832" y="5623560"/>
            <a:ext cx="2606040" cy="5029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9125712" y="5623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■  브랜드와 연결되는가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최종 선택안과 이유   A안 — 고객의 상황과 변화가 모두 들어 있고, 소리 내어 말했을 때 가장 자연스럽습니다.</a:t>
            </a:r>
            <a:endParaRPr lang="en-US" sz="1150" dirty="0"/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69A22C22-7AD8-7F92-F4A7-7A81D823EDB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스토리텔링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2590800"/>
            <a:ext cx="2159000" cy="170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50900" y="2501900"/>
            <a:ext cx="419100" cy="419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 rot="10800000">
            <a:off x="863600" y="2527300"/>
            <a:ext cx="3937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13" name="TextBox 13"/>
          <p:cNvSpPr txBox="1"/>
          <p:nvPr/>
        </p:nvSpPr>
        <p:spPr>
          <a:xfrm>
            <a:off x="863600" y="258445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7800" y="287020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①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문제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47800" y="335280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고객이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직면한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현실적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또는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심리적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문제를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명확히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제시합니다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350" y="2590800"/>
            <a:ext cx="2159000" cy="1701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273800" y="2501900"/>
            <a:ext cx="419100" cy="419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 rot="10800000">
            <a:off x="6286500" y="2527300"/>
            <a:ext cx="3937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19" name="TextBox 19"/>
          <p:cNvSpPr txBox="1"/>
          <p:nvPr/>
        </p:nvSpPr>
        <p:spPr>
          <a:xfrm>
            <a:off x="6292850" y="258445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70700" y="287020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②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해결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70700" y="335280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브랜드가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제공하는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구체적인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솔루션을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보여줍니다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100" y="4603750"/>
            <a:ext cx="2159000" cy="1701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50900" y="4514850"/>
            <a:ext cx="419100" cy="419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 rot="10800000">
            <a:off x="863600" y="4540250"/>
            <a:ext cx="3937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25" name="TextBox 25"/>
          <p:cNvSpPr txBox="1"/>
          <p:nvPr/>
        </p:nvSpPr>
        <p:spPr>
          <a:xfrm>
            <a:off x="863600" y="459740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7800" y="488315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③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고객</a:t>
            </a: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경험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47800" y="536575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문제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해결을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통해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얻게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되는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긍정적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변화를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전달합니다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7350" y="4603750"/>
            <a:ext cx="2159000" cy="1701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273800" y="4514850"/>
            <a:ext cx="419100" cy="4191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 rot="10800000">
            <a:off x="349250" y="368300"/>
            <a:ext cx="12274550" cy="87185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2508250"/>
            <a:ext cx="4864100" cy="12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2508250"/>
            <a:ext cx="4864100" cy="12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7300" y="4521200"/>
            <a:ext cx="4864100" cy="127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0" y="4521200"/>
            <a:ext cx="4864100" cy="127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6292850" y="4597400"/>
            <a:ext cx="381000" cy="222250"/>
          </a:xfrm>
          <a:prstGeom prst="rect">
            <a:avLst/>
          </a:prstGeom>
        </p:spPr>
        <p:txBody>
          <a:bodyPr lIns="0" tIns="26247" rIns="0" bIns="26247" rtlCol="0" anchor="ctr"/>
          <a:lstStyle/>
          <a:p>
            <a:pPr lvl="0" algn="ctr">
              <a:lnSpc>
                <a:spcPct val="88810"/>
              </a:lnSpc>
            </a:pPr>
            <a:r>
              <a:rPr lang="en-US" sz="1253" b="1" spc="-50" dirty="0">
                <a:solidFill>
                  <a:srgbClr val="FFFFFF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70700" y="4883150"/>
            <a:ext cx="1270000" cy="260350"/>
          </a:xfrm>
          <a:prstGeom prst="rect">
            <a:avLst/>
          </a:prstGeom>
        </p:spPr>
        <p:txBody>
          <a:bodyPr lIns="0" tIns="30353" rIns="0" bIns="30353" rtlCol="0" anchor="ctr"/>
          <a:lstStyle/>
          <a:p>
            <a:pPr lvl="0" algn="l">
              <a:lnSpc>
                <a:spcPct val="88810"/>
              </a:lnSpc>
            </a:pP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④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z="1448" b="1" cap="all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448" b="1" cap="all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가치</a:t>
            </a:r>
            <a:endParaRPr lang="en-US" sz="1448" b="1" cap="all" dirty="0">
              <a:solidFill>
                <a:srgbClr val="424242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870700" y="5365750"/>
            <a:ext cx="2235200" cy="4508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2760"/>
              </a:lnSpc>
            </a:pP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모든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과정에서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브랜드가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추구하는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근본적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가치를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33" spc="-50" dirty="0" err="1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표현합니다</a:t>
            </a:r>
            <a:r>
              <a:rPr lang="en-US" sz="1133" spc="-50" dirty="0">
                <a:solidFill>
                  <a:srgbClr val="424242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="" xmlns:a16="http://schemas.microsoft.com/office/drawing/2014/main" id="{8A9F2250-1E98-1E5C-16AF-A94EF0284E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⑤  브랜드 스토리텔링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네 칸이 하나의 이야기로 이어지는지 소리 내어 읽어 확인하십시오.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377440" cy="100584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① 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고객이 직면한 현실적 또는 심리적 문제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08960" y="21671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108960" y="247802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2898648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②  해결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브랜드가 제공하는 구체적 솔루션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3282696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3108960" y="359359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4178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③  고객 경험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문제 해결로 얻게 되는 긍정적 변화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0" y="4398264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3108960" y="4709160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48640" y="5129784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5294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④  브랜드 가치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이 과정에서 드러나는 브랜드의 가치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0" y="5513832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3108960" y="5824728"/>
            <a:ext cx="8321040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칸을 이어서 읽었을 때 하나의 이야기로 들리는지 확인하십시오. 따로 놀면 채널마다 다른 말을 하게 됩니다.</a:t>
            </a:r>
            <a:endParaRPr lang="en-US" sz="1150" dirty="0"/>
          </a:p>
        </p:txBody>
      </p:sp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0F272975-82E6-A574-2C72-434193CA9A9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⑤  브랜드 스토리텔링 설계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네 칸이 하나의 이야기로 이어지는지 소리 내어 읽어 확인하십시오.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377440" cy="100584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1947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①  문제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고객이 직면한 현실적 또는 심리적 문제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898648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48640" y="2898648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②  해결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401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브랜드가 제공하는 구체적 솔루션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14216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77240" y="4178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③  고객 경험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문제 해결로 얻게 되는 긍정적 변화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129784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48640" y="5129784"/>
            <a:ext cx="2377440" cy="100584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77240" y="529437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④  브랜드 가치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6327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이 과정에서 드러나는 브랜드의 가치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네 칸을 이어서 읽었을 때 하나의 이야기로 들리는지 확인하십시오. 따로 놀면 채널마다 다른 말을 하게 됩니다.</a:t>
            </a:r>
            <a:endParaRPr lang="en-US" sz="1150" dirty="0"/>
          </a:p>
        </p:txBody>
      </p:sp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0F272975-82E6-A574-2C72-434193CA9A9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1892807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20~30대 직장인은 퇴근 후 기분이 가라앉아도 집에 가기 전 잠깐 들러 기분을 풀 곳이 없습니다. 백화점은 '살 게 있을 때만 가는 곳'이라 부담스럽습니다.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3008376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롯데백화점은 평일 저녁 30분 '무드 시프트 코스'를 엽니다. 향 테스트, 디저트 페어링, 15분 원데이 클래스, 쉬어 가는 무드 라운지를 한 동선으로 잇습니다.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123944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사지 않아도 기분이 바뀌어 집에 가고, 마음에 든 향과 디저트는 다음에 다시 찾으러 옵니다. 백화점이 '그냥 들러도 되는 곳'이 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5239512"/>
            <a:ext cx="8275320" cy="786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sz="110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롯데백화점은 물건을 파는 곳을 넘어, 고객의 하루를 회복시키는 일상의 공간이라는 가치를 전합니다.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5800" y="323850"/>
            <a:ext cx="1600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615950" y="13081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오프라인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행사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채널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44" y="2178910"/>
            <a:ext cx="3771900" cy="3841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257800" y="3365500"/>
            <a:ext cx="6203950" cy="190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팝업스토어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한정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기간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운영으로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신선함과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긴급성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창출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포토존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SNS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공유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인증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공간으로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바이럴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효과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체험부스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제품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사용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구매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전환율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향상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문화공연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예술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형식으로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시식행사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음식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제품의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맛과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품질을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직접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체험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  <a:p>
            <a:pPr marL="285750" lvl="0" indent="-285750" algn="l">
              <a:lnSpc>
                <a:spcPct val="120350"/>
              </a:lnSpc>
              <a:buFont typeface="Arial" panose="020B0604020202020204" pitchFamily="34" charset="0"/>
              <a:buChar char="•"/>
            </a:pP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플리마켓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: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커뮤니티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형성과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친근한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이미지</a:t>
            </a:r>
            <a:r>
              <a:rPr lang="en-US" sz="17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7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구축</a:t>
            </a:r>
            <a:endParaRPr lang="en-US" sz="17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257800" y="2781300"/>
            <a:ext cx="6216650" cy="381000"/>
          </a:xfrm>
          <a:prstGeom prst="rect">
            <a:avLst/>
          </a:prstGeom>
        </p:spPr>
        <p:txBody>
          <a:bodyPr lIns="0" tIns="13547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오프라인</a:t>
            </a:r>
            <a:r>
              <a:rPr lang="en-US" sz="21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행사의</a:t>
            </a:r>
            <a:r>
              <a:rPr lang="en-US" sz="21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주요</a:t>
            </a:r>
            <a:r>
              <a:rPr lang="en-US" sz="21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1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유형</a:t>
            </a:r>
            <a:endParaRPr lang="en-US" sz="213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721C13FC-2BFA-43A5-3431-686BE616238F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3250" y="3124200"/>
            <a:ext cx="3332510" cy="77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SNS와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라이브커머스는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실시간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고객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상호작용과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즉시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구매를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가능하게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하는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핵심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디지털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267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채널입니다</a:t>
            </a:r>
            <a:r>
              <a:rPr lang="en-US" sz="1267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SNS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마케팅과</a:t>
            </a:r>
            <a:r>
              <a:rPr lang="en-US" sz="2000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00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라이브커머스</a:t>
            </a:r>
            <a:endParaRPr lang="en-US" sz="2000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1587500"/>
            <a:ext cx="336550" cy="336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2546350"/>
            <a:ext cx="336550" cy="336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4464050"/>
            <a:ext cx="336550" cy="3365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50" y="3505200"/>
            <a:ext cx="336550" cy="33655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0" y="5422900"/>
            <a:ext cx="336550" cy="33655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127750" y="19621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릴스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이벤트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리뷰로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20~30대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접근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40450" y="1587500"/>
            <a:ext cx="2032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인스타그램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127750" y="29210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숏폼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튜토리얼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스토리로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전연령층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40450" y="2546350"/>
            <a:ext cx="36068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유튜브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27750" y="38798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챌린지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숏폼으로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10~20대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40450" y="3505200"/>
            <a:ext cx="45974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틱톡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27750" y="483870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상세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리뷰로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30~40대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신뢰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40450" y="4464050"/>
            <a:ext cx="38862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네이버</a:t>
            </a:r>
            <a:r>
              <a:rPr lang="en-US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블로그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127750" y="5797550"/>
            <a:ext cx="470535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진행자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매력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상호작용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긴급성으로</a:t>
            </a:r>
            <a:r>
              <a:rPr lang="en-US" sz="1488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88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구매</a:t>
            </a:r>
            <a:endParaRPr lang="en-US" sz="1488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Geologica Roman Regula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40450" y="5422900"/>
            <a:ext cx="4064000" cy="317500"/>
          </a:xfrm>
          <a:prstGeom prst="rect">
            <a:avLst/>
          </a:prstGeom>
        </p:spPr>
        <p:txBody>
          <a:bodyPr lIns="0" tIns="24003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pc="-50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라이브커머스</a:t>
            </a:r>
            <a:endParaRPr lang="en-US" spc="-50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461000" y="16065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61000" y="25654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461000" y="448310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61000" y="3524250"/>
            <a:ext cx="23495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73700" y="5441950"/>
            <a:ext cx="203200" cy="298450"/>
          </a:xfrm>
          <a:prstGeom prst="rect">
            <a:avLst/>
          </a:prstGeom>
        </p:spPr>
        <p:txBody>
          <a:bodyPr lIns="0" tIns="22225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667" spc="-5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5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30BBF851-4614-F219-8672-79BFA1EBC8C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홈페이지와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멤버십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연계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0" y="2419350"/>
            <a:ext cx="4851400" cy="3962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250" y="2419350"/>
            <a:ext cx="4851400" cy="3962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92250" y="5143500"/>
            <a:ext cx="4375150" cy="482600"/>
          </a:xfrm>
          <a:prstGeom prst="rect">
            <a:avLst/>
          </a:prstGeom>
        </p:spPr>
        <p:txBody>
          <a:bodyPr lIns="0" tIns="8988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행사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안내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상세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정보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온라인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예약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회원가입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기능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소개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및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가치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전달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이벤트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플랫폼으로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15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기능합니다</a:t>
            </a:r>
            <a:r>
              <a:rPr lang="en-US" sz="1415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150" y="4610100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홈페이지의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역할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584950" y="5143500"/>
            <a:ext cx="4375150" cy="501650"/>
          </a:xfrm>
          <a:prstGeom prst="rect">
            <a:avLst/>
          </a:prstGeom>
        </p:spPr>
        <p:txBody>
          <a:bodyPr lIns="0" tIns="9313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포인트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적립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타깃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쿠폰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VIP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차등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서비스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구매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이력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기반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맞춤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추천으로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충성도를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4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강화합니다</a:t>
            </a:r>
            <a:r>
              <a:rPr lang="en-US" sz="14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46850" y="4610100"/>
            <a:ext cx="4394200" cy="355600"/>
          </a:xfrm>
          <a:prstGeom prst="rect">
            <a:avLst/>
          </a:prstGeom>
        </p:spPr>
        <p:txBody>
          <a:bodyPr lIns="0" tIns="12589" rIns="0" bIns="12589" rtlCol="0" anchor="ctr"/>
          <a:lstStyle/>
          <a:p>
            <a:pPr lvl="0" algn="ctr">
              <a:lnSpc>
                <a:spcPct val="107899"/>
              </a:lnSpc>
            </a:pP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멤버십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연계의</a:t>
            </a:r>
            <a:r>
              <a:rPr lang="en-US" sz="198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8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효과</a:t>
            </a:r>
            <a:endParaRPr lang="en-US" sz="1983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6433B146-AAC5-8391-D0DA-EAFD549A772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채널별 특성과 예산 효율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잘하는 일이 다릅니다. 도달이 목적인지 전환이 목적인지에 따라 골라야 합니다.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112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22199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타깃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잘하는 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비용 특성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주의점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20~30대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· 확산 · 비주얼 전달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제작비 낮음 · 광고비 탄력적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체류가 짧아 정보 전달에는 약함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 연령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설명 · 신뢰 형성 · 롱테일 노출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제작비 높음 · 노출은 오래감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 기간이 길어 급한 캠페인에 부적합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10~20대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확산 · 챌린지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제작비 낮음 · 성패 편차 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브랜드 통제가 어려움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네이버 블로그 · 검색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30~40대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검색 유입 · 상세 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비용 낮음 · 효과가 느림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즉시 확산에는 부적합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채널별 상이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신뢰 기반 전환 · 후기 확보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단가 편차 매우 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팔로워 수보다 참여율을 확인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20~40대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즉시 구매 전환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진행비 · 수수료 발생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상품이 명확해야 성립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기존 회원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재방문 · 재구매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추가 비용 거의 없음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확보에는 무력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56235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고객 확보가 목표라면 앱 푸시와 멤버십에 예산을 쏟아도 소용이 없습니다. 이미 우리 회원인 사람에게만 도달하기 때문입니다.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목표가 신규인지 기존인지에 따라 채널 예산의 배분이 완전히 달라집니다.</a:t>
            </a:r>
            <a:endParaRPr lang="en-US" sz="1150" dirty="0"/>
          </a:p>
        </p:txBody>
      </p:sp>
      <p:sp>
        <p:nvSpPr>
          <p:cNvPr id="12" name="직사각형 11">
            <a:extLst>
              <a:ext uri="{FF2B5EF4-FFF2-40B4-BE49-F238E27FC236}">
                <a16:creationId xmlns="" xmlns:a16="http://schemas.microsoft.com/office/drawing/2014/main" id="{FF141321-991F-E422-AFA9-D396143B64E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통합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마케팅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커뮤니케이션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(IMC)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49600"/>
            <a:ext cx="3136900" cy="16700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" y="2533650"/>
            <a:ext cx="533400" cy="5016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730500" y="4781550"/>
            <a:ext cx="3295650" cy="190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08050" y="4978400"/>
            <a:ext cx="3213100" cy="1187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각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독립적으로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작동하는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것이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아니라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여정의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각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단계에서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같은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메시지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같은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제공하여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누적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효과를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만듭니다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6300" y="2686050"/>
            <a:ext cx="32131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IMC의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원리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699000" y="4978400"/>
            <a:ext cx="3200400" cy="1187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홈페이지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백화점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방문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팝업스토어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라이브커머스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L.POINT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적립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→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재방문으로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이어지는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여정을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설계합니다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515100" y="4781550"/>
            <a:ext cx="3295650" cy="190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483600" y="4978400"/>
            <a:ext cx="3213100" cy="882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각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단계에서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일관된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캠페인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메시지와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시각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정체성을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유지하여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고객이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어느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채널에서든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같은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브랜드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경험을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받게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533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합니다</a:t>
            </a:r>
            <a:r>
              <a:rPr lang="en-US" sz="1533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2800" y="2533650"/>
            <a:ext cx="533400" cy="5016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660900" y="2686050"/>
            <a:ext cx="32131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통합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채널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운영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흐름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400" y="2533650"/>
            <a:ext cx="533400" cy="50165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5350" y="3149600"/>
            <a:ext cx="3136900" cy="167005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3600" y="3149600"/>
            <a:ext cx="3136900" cy="16700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451850" y="2686050"/>
            <a:ext cx="32131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일관된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브랜드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경험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C3B47D14-932A-C585-0156-FD62C06166F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⑥  채널 믹스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역할을 하나씩 정하십시오. 모든 채널이 모든 일을 할 수는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85616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여부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채널의 역할 (인지/관심/행동/전환)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주요 콘텐츠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도달·성과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· 숏폼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(팝업·포토존)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669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확인 질문  ·  이번 캠페인의 목표는 신규 고객 확보입니다. 앱 푸시와 멤버십에 예산을 크게 배정하셨다면, 그 채널이 신규 고객에게 닿습니까?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SNS 도달 목표 10만을 인스타 팔로워 12만 · 도달률 8%로 달성할 수 있는지도 계산해 보십시오.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F9FDDA6-D22B-A394-8E46-0E977F0054A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⑥  채널 믹스 설계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역할을 하나씩 정하십시오. 모든 채널이 모든 일을 할 수는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85616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여부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채널의 역할 (인지/관심/행동/전환)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주요 콘텐츠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 도달·성과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인스타그램 · 릴스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'오늘 기분 테스트' 릴스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14%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도달 6만 (광고 5만)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유튜브 · 숏폼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30분 코스 브이로그 숏폼 3편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조회 3만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틱톡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사용 안 함 (주 타깃 연령과 다름)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· 행동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직장인 인플루언서 20명 방문기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13%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도달 4만 · 인증 800건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향 · 디저트 상품 라이브 2회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구매 전환 3%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멤버십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즉시 코스 쿠폰 · 재방문 스탬프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재방문 30%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(팝업·포토존)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무드 라운지 · 향 테스트 · 클래스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방문 3.5만 · 가입 5천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76%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나머지 24%는 실습 ⑨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669280"/>
            <a:ext cx="11091672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669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4E9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  ·  앱 푸시 · 멤버십은 2%로 낮췄습니다. 이미 우리 회원인 고객에게만 닿기 때문입니다.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4E9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인스타 오가닉 도달은 12만 × 8% ≈ 1만에 불과하므로, 목표 10만은 릴스 광고(5만)와 인플루언서(4만)로 채웁니다.</a:t>
            </a:r>
            <a:endParaRPr lang="en-US" sz="1150" dirty="0"/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F9FDDA6-D22B-A394-8E46-0E977F0054A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⑦  IMC 고객 여정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일곱 단계에서 같은 메시지가 유지되는지 확인하는 것이 이 실습의 목적입니다.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68268"/>
              </p:ext>
            </p:extLst>
          </p:nvPr>
        </p:nvGraphicFramePr>
        <p:xfrm>
          <a:off x="548640" y="1783080"/>
          <a:ext cx="11091672" cy="3482128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 · 접점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단계에서 전달할 메시지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하는 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다음 단계로 넘기는 장치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SNS 인지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홈페이지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백화점 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팝업스토어 체험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멤버십 · 포인트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13232" y="534924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일곱 단계에서 반복되는 하나의 메시지 · 어느 단계에서 끊기는가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3232" y="6007608"/>
            <a:ext cx="10762488" cy="731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C8D44A73-2C1B-85BA-6EB8-38BE43ED130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⑦  IMC 고객 여정 설계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일곱 단계에서 같은 메시지가 유지되는지 확인하는 것이 이 실습의 목적입니다.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068268"/>
              </p:ext>
            </p:extLst>
          </p:nvPr>
        </p:nvGraphicFramePr>
        <p:xfrm>
          <a:off x="548640" y="1783080"/>
          <a:ext cx="11091672" cy="3482128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채널 · 접점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단계에서 전달할 메시지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고객이 하는 행동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다음 단계로 넘기는 장치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SNS 인지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 릴스 · 인플루언서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기분, 바꿔 볼까요?"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테스트 참여 · 저장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테스트 결과별 '오늘의 코스' 링크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홈페이지 · 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캠페인 페이지 · 앱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기분에 맞는 30분 코스"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코스 확인 · 회원가입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즉시 라운지 음료 쿠폰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백화점 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1층 아트리움 안내존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"오늘 기분, 여기서 바꿔요"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스탬프북 받기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첫 스탬프 위치로 팝업 안내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팝업스토어 체험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존 2곳 (향 · 디저트)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"기분이 바뀌는 향과 맛"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향 테스트 · 페어링 · 클래스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체험 상품을 라이브 알림으로 연결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백화점 라이브 방송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"그날 바꾼 기분, 집에서도"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체험한 향 · 디저트 구매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구매 시 L.POINT 추가 적립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멤버십 · 포인트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L.POINT · 앱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"기분 바꾼 날마다 스탬프"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스탬프 적립 · 포인트 확인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스탬프 3개 시 다음 방문 혜택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52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재방문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앱 푸시 · 매장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"이번 주 기분은 어떠세요?"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다른 코스로 재방문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매주 새 코스 공개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10"/>
          <p:cNvSpPr/>
          <p:nvPr/>
        </p:nvSpPr>
        <p:spPr>
          <a:xfrm>
            <a:off x="548640" y="5349240"/>
            <a:ext cx="110916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13232" y="534924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일곱 단계에서 반복되는 하나의 메시지 · 어느 단계에서 끊기는가</a:t>
            </a:r>
            <a:endParaRPr lang="en-US" sz="1200" dirty="0"/>
          </a:p>
        </p:txBody>
      </p:sp>
      <p:sp>
        <p:nvSpPr>
          <p:cNvPr id="18" name="직사각형 17">
            <a:extLst>
              <a:ext uri="{FF2B5EF4-FFF2-40B4-BE49-F238E27FC236}">
                <a16:creationId xmlns="" xmlns:a16="http://schemas.microsoft.com/office/drawing/2014/main" id="{C8D44A73-2C1B-85BA-6EB8-38BE43ED1302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687568"/>
            <a:ext cx="10762488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ko-KR" sz="1050" b="1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반복 메시지  </a:t>
            </a: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'오늘 기분, 롯데에서 바꿔요'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sz="1050" b="1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끊기는 지점  </a:t>
            </a:r>
            <a:r>
              <a:rPr lang="ko-KR" sz="1050" b="0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5단계 라이브커머스 — 체험에서 구매로 넘어갈 때 '상품 판매' 말투로 바뀌기 쉽습니다. 라이브 대본도 '기분'으로 시작하게 맞춥니다.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15950" y="1308100"/>
            <a:ext cx="56070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운영계획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81000"/>
          </a:blip>
          <a:stretch>
            <a:fillRect/>
          </a:stretch>
        </p:blipFill>
        <p:spPr>
          <a:xfrm>
            <a:off x="5149850" y="2635250"/>
            <a:ext cx="6350000" cy="383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606800"/>
            <a:ext cx="4908550" cy="28575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638800" y="3130550"/>
            <a:ext cx="545465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개발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운영계획</a:t>
            </a:r>
            <a:r>
              <a:rPr lang="en-US" sz="2067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2067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수립</a:t>
            </a:r>
            <a:endParaRPr lang="en-US" sz="2067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638800" y="4070350"/>
            <a:ext cx="5588000" cy="20764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선택한 고객 트렌드와 20~30대 신규 고객의 라이프스타일을 반영한 경험 설계로 감정적 연결과 브랜드 애호도를 형성합니다.</a:t>
            </a:r>
          </a:p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 신호가 가장 강한 시기와 시간대를 골라 백화점 주요 동선과 팝업스토어 공간을 확보합니다.</a:t>
            </a:r>
          </a:p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체험부스, 포토존, 라이브공연 등 오프라인 활동과 프리미엄 브랜드 협력으로 시너지를 창출합니다.</a:t>
            </a:r>
          </a:p>
          <a:p>
            <a:pPr marL="285750" lvl="0" indent="-28575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1488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채널별 투자 배분으로 최대 효율을 달성하는 예산 계획을 수립합니다.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" y="2533650"/>
            <a:ext cx="3949700" cy="37846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FCFB6683-BA3C-971B-8A35-A71C1D077FD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⑧  운영계획 수립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3주간 무엇을 언제 어디서 할지, 트렌드 신호를 근거로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61744"/>
              </p:ext>
            </p:extLst>
          </p:nvPr>
        </p:nvGraphicFramePr>
        <p:xfrm>
          <a:off x="548640" y="1783080"/>
          <a:ext cx="11091672" cy="2002535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결정 근거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 · 주요 일자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장소 · 공간 배치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협력 브랜드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필요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10288"/>
              </p:ext>
            </p:extLst>
          </p:nvPr>
        </p:nvGraphicFramePr>
        <p:xfrm>
          <a:off x="548640" y="4023360"/>
          <a:ext cx="11091672" cy="2177416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1주차 (오프닝)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(피크)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3주차 (마무리)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온라인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예상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548640" y="631331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3주 내내 같은 강도로 운영할 수는 없습니다. 어느 주에 무엇을 집중할지 정하십시오.</a:t>
            </a:r>
            <a:endParaRPr lang="en-US" sz="11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D9DD8E58-20FA-48B6-91DC-03C3E772509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⑧  운영계획 수립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3주간 무엇을 언제 어디서 할지, 트렌드 신호를 근거로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61744"/>
              </p:ext>
            </p:extLst>
          </p:nvPr>
        </p:nvGraphicFramePr>
        <p:xfrm>
          <a:off x="548640" y="1783080"/>
          <a:ext cx="11091672" cy="2002535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결정 근거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기간 · 주요 일자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운영 · 평일 18~21시 집중 · 2주차 금요일 '무드 나이트'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평일 18~21시 방문 41% (+6%p) — 퇴근 후 기분 전환 수요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장소 · 공간 배치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1층 아트리움 무드 라운지 + 팝업 존 A(향) · B(디저트), 스탬프로 뷰티 · 리빙층 연결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팝업 후 이동률 22% — 층간 이동 장치 필요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협력 브랜드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홈프래그런스 브랜드 2곳, 디저트 · 티 브랜드 2곳, 원데이 클래스 공방 1곳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소액 보상 구매가 가능한 카테고리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05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필요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라운지 2명 · 팝업 존별 2명 · 클래스 강사 2명 · 안내 1명 (저녁 집중)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시간 집중으로 인력 효율 확보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10288"/>
              </p:ext>
            </p:extLst>
          </p:nvPr>
        </p:nvGraphicFramePr>
        <p:xfrm>
          <a:off x="548640" y="4023360"/>
          <a:ext cx="11091672" cy="2177416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89864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1주차 (오프닝)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(피크)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3주차 (마무리)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오프라인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무드 라운지 오픈 · 향 테스트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금요일 '무드 나이트' 클래스 · 공연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인기 코스 앙코르 · 스탬프 완성 이벤트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온라인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테스트 릴스 · 인플루언서 1차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방문기 · 라이브 1회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참여 후기 리그램 · 라이브 2회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44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예상 방문객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9,000명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15,000명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11,000명 (합계 3.5만)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548640" y="6313316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3주 내내 같은 강도로 운영할 수는 없습니다. 어느 주에 무엇을 집중할지 정하십시오.</a:t>
            </a:r>
            <a:endParaRPr lang="en-US" sz="11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D9DD8E58-20FA-48B6-91DC-03C3E772509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⑨  예산 배분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총 5억원입니다. 채널 믹스(실습 ⑥)의 비중과 어긋나지 않게 맞추십시오.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30840"/>
              </p:ext>
            </p:extLst>
          </p:nvPr>
        </p:nvGraphicFramePr>
        <p:xfrm>
          <a:off x="548640" y="1783080"/>
          <a:ext cx="11091672" cy="320954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세부 내역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금액으로 정한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 연출 · 팝업 조성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콘텐츠 ·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디지털 광고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·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사은품 · 멤버십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예비비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실습 ⑥에서 정한 채널별 예산 비중과 이 표의 디지털·인플루언서 항목이 서로 맞는지 확인하십시오.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94360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94360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회원 5,000명 목표 기준 · 1인당 획득 비용은 얼마인가</a:t>
            </a:r>
            <a:endParaRPr 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1D39B525-E295-9B4D-0402-2C6BE14FAD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⑨  예산 배분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총 5억원입니다. 채널 믹스(실습 ⑥)의 비중과 어긋나지 않게 맞추십시오.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30840"/>
              </p:ext>
            </p:extLst>
          </p:nvPr>
        </p:nvGraphicFramePr>
        <p:xfrm>
          <a:off x="548640" y="1783080"/>
          <a:ext cx="11091672" cy="3209544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예산 항목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비중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금액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세부 내역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이 금액으로 정한 이유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공간 연출 · 팝업 조성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26%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130,000,000원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무드 라운지 · 팝업 존 2곳 · 스탬프 동선 VMD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짧게 머무는 고객을 붙잡는 핵심 장치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콘텐츠 · 프로그램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14%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15분 클래스 강사비 · 향 · 디저트 페어링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체험 자체가 캠페인 메시지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디지털 광고 · SNS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릴스 광고 · 숏폼 제작 · 앱 푸시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오가닉 도달 1만으로는 목표 10만 불가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인플루언서 · 라이브커머스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16%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마이크로 인플루언서 20명 · 라이브 2회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팔로워보다 참여율 높은 직장인 계정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사은품 · 멤버십 혜택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음료 쿠폰 · 스탬프 완성 기프트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가입 동기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인력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9%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45,000,000원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저녁 피크 중심 3주 운영 인력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운영 시간 집중으로 인력비 절감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예비비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25,000,000원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반응 좋은 채널에 추가 집행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2주차 성과 확인 후 재배분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100%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500,000,000원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349240"/>
            <a:ext cx="11091672" cy="5029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9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  ·  디지털 20% (인스타 14 + 유튜브 4 + 앱 2)와 인플루언서 · 라이브 16% (13 + 3)가 실습 ⑥의 채널 비중과 일치합니다.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8640" y="5943600"/>
            <a:ext cx="11091672" cy="310896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13232" y="594360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신규 회원 5,000명 목표 기준 · 1인당 획득 비용은 얼마인가</a:t>
            </a:r>
            <a:endParaRPr lang="en-US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1D39B525-E295-9B4D-0402-2C6BE14FADCB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6254496"/>
            <a:ext cx="1076248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1F4E9A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5억 ÷ 5,000명 = 1인당 10만원   (직전 캠페인: 같은 예산 ÷ 2,300명 ≈ 21.7만원 → 절반 이하로 낮춰야 함)</a:t>
            </a:r>
            <a:endParaRPr lang="ko-KR" sz="1050" b="0" dirty="0">
              <a:solidFill>
                <a:srgbClr val="1F4E9A"/>
              </a:solidFill>
              <a:latin typeface="a고딕12" panose="02020600000000000000" pitchFamily="18" charset="-127"/>
              <a:ea typeface="a고딕12" panose="02020600000000000000" pitchFamily="18" charset="-127"/>
              <a:cs typeface="Pretendard Regular" pitchFamily="34" charset="-12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95450" y="3841750"/>
            <a:ext cx="4946650" cy="63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15950" y="3124200"/>
            <a:ext cx="3168650" cy="971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통합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홍보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전략과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명확한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KPI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설정은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실행과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평가의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기준입니다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  <a:p>
            <a:pPr lvl="0" algn="l">
              <a:lnSpc>
                <a:spcPct val="141100"/>
              </a:lnSpc>
            </a:pP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모든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채널이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일관된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메시지를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전달하며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측정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가능한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성과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지표로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캠페인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효과를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 </a:t>
            </a:r>
            <a:r>
              <a:rPr lang="en-US" sz="1178" dirty="0" err="1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평가합니다</a:t>
            </a:r>
            <a:r>
              <a:rPr lang="en-US" sz="1178" dirty="0">
                <a:solidFill>
                  <a:srgbClr val="2A2A2A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Regula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5950" y="1797050"/>
            <a:ext cx="340995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홍보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전략과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KPI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2387600"/>
            <a:ext cx="381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3879850"/>
            <a:ext cx="38100" cy="38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5359400"/>
            <a:ext cx="38100" cy="38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953000" y="1930400"/>
            <a:ext cx="546100" cy="844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4733" spc="-40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53000" y="3416300"/>
            <a:ext cx="546100" cy="844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4733" spc="-40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53000" y="4902200"/>
            <a:ext cx="546100" cy="844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4733" spc="-400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NanumSquare Bold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899150" y="2292350"/>
            <a:ext cx="5302250" cy="412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SNS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릴스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인플루언서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협력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홈페이지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라이브커머스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멤버십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연계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다양한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20~30대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타깃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고객에게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도달합니다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78500" y="1974850"/>
            <a:ext cx="54356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채널별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홍보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전략</a:t>
            </a:r>
            <a:endParaRPr lang="en-US" sz="1600" spc="-50" dirty="0">
              <a:solidFill>
                <a:srgbClr val="2B323B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905500" y="3784600"/>
            <a:ext cx="5289550" cy="412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방문객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수,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SNS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참여도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회원가입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수,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만족도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등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측정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지표를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설정하고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목표를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명확히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합니다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78500" y="3467100"/>
            <a:ext cx="54356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KPI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설정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측정</a:t>
            </a:r>
            <a:endParaRPr lang="en-US" sz="1600" spc="-50" dirty="0">
              <a:solidFill>
                <a:srgbClr val="2B323B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905500" y="5264150"/>
            <a:ext cx="5289550" cy="412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고객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40%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매출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25%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증가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SNS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도달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10만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회원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5,000명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만족도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85%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이상을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목표로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116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합니다</a:t>
            </a:r>
            <a:r>
              <a:rPr lang="en-US" sz="1116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78500" y="4946650"/>
            <a:ext cx="54356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성과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평가</a:t>
            </a:r>
            <a:r>
              <a:rPr lang="en-US" sz="1600" spc="-50" dirty="0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600" spc="-50" dirty="0" err="1">
                <a:solidFill>
                  <a:srgbClr val="2B323B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기준</a:t>
            </a:r>
            <a:endParaRPr lang="en-US" sz="1600" spc="-50" dirty="0">
              <a:solidFill>
                <a:srgbClr val="2B323B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="" xmlns:a16="http://schemas.microsoft.com/office/drawing/2014/main" id="{E3CCD392-7E7D-7B29-05B2-60D31DC51151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캠페인 성과 측정 프레임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브랜드 캠페인을 매출로만 재면 거의 항상 실패로 나옵니다. 단계별로 봐야 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1064240" cy="73152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856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인지 (Awareness)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67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8E0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얼마나 많은 사람이 알게 되었나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1783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도달 수 · 노출 수 · 브랜드 검색량 · SNS 언급량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" y="2606040"/>
            <a:ext cx="1056132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120140" y="2679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관심 (Interest)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014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얼마나 반응했나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91940" y="2606040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참여율 · 저장 · 공유 · 영상 완주율 · 홈페이지 유입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9848" y="3429000"/>
            <a:ext cx="1005840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행동 (Action)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실제로 움직였나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43400" y="34290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방문객 수 · 신규 회원 가입 · 이벤트 참여 · 체험 인원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21308" y="4251960"/>
            <a:ext cx="955548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623060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전환 (Conversion)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23060" y="4636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샀나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94860" y="425196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매출 · 객단가 · 구매 전환율 · 신규 고객 구매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72768" y="5074920"/>
            <a:ext cx="9052560" cy="731520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874520" y="5148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관계 (Loyalty)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74520" y="5458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다시 오나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5074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Regular" pitchFamily="34" charset="-120"/>
              </a:rPr>
              <a:t>재방문율 · 멤버십 유지율 · 재구매 주기 · 추천 의향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 목표가 신규 고객 확보라면 대표 지표는 '인지'와 '행동'입니다. 전환은 부지표로 두고, 그 사실을 기획 단계에서 명시하십시오.</a:t>
            </a:r>
            <a:endParaRPr lang="en-US" sz="1200" dirty="0"/>
          </a:p>
        </p:txBody>
      </p:sp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8BA9688F-D8A0-72C3-D856-050065A79288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⑩  KPI 설정과 측정 계획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퍼널 단계별로 대표 지표를 고르고 측정 방법까지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35분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61230"/>
              </p:ext>
            </p:extLst>
          </p:nvPr>
        </p:nvGraphicFramePr>
        <p:xfrm>
          <a:off x="548640" y="1783080"/>
          <a:ext cx="11091672" cy="2514600"/>
        </p:xfrm>
        <a:graphic>
          <a:graphicData uri="http://schemas.openxmlformats.org/drawingml/2006/table">
            <a:tbl>
              <a:tblPr/>
              <a:tblGrid>
                <a:gridCol w="21305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퍼널 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 지표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대표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현재값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측정 방법 · 시점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(Awareness)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 (Interest)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(Action)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 (Conversion)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 (Loyalty)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□ 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1982"/>
              </p:ext>
            </p:extLst>
          </p:nvPr>
        </p:nvGraphicFramePr>
        <p:xfrm>
          <a:off x="548640" y="4434840"/>
          <a:ext cx="11091672" cy="1581912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검증 질문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답변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대비 두 배 이상인 목표를 어떻게 달성할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목표에 미달했을 때 무엇을 근거로 성과를 설명할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캠페인은 브랜드 목표를 추구합니다. 매출만으로 평가하면 거의 항상 실패로 나온다는 점을 기억하십시오.</a:t>
            </a:r>
            <a:endParaRPr lang="en-US" sz="1150" dirty="0"/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D27FA81A-FDBD-0646-6A81-8E574CBD8BC0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⑩  KPI 설정과 측정 계획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퍼널 단계별로 대표 지표를 고르고 측정 방법까지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561230"/>
              </p:ext>
            </p:extLst>
          </p:nvPr>
        </p:nvGraphicFramePr>
        <p:xfrm>
          <a:off x="548640" y="1783080"/>
          <a:ext cx="11091672" cy="2514600"/>
        </p:xfrm>
        <a:graphic>
          <a:graphicData uri="http://schemas.openxmlformats.org/drawingml/2006/table">
            <a:tbl>
              <a:tblPr/>
              <a:tblGrid>
                <a:gridCol w="21305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퍼널 단계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/ 부 지표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대표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현재값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목표값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측정 방법 · 시점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(Awareness)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SNS 도달 · 해시태그 언급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6.5만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10만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인스타 인사이트 · 광고 리포트, 주 1회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관심 (Interest)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기분 테스트 참여 · 릴스 저장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테스트 2만 건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테스트 페이지 로그, 매일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행동 (Action)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■ 주 □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회원 가입 · 코스 참여 인원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2,300명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5,000명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가입 경로 코드 · 스탬프북 회수, 매일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전환 (Conversion)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고객 구매 비중 · 코스 연계 매출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신규 40% · 매출 +25%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POS · L.POINT 데이터, 종료 직후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관계 (Loyalty)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□ 주 ■ 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30일 내 재방문율 · 만족도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30% · 85%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멤버십 데이터 · 설문, 종료 30일 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71982"/>
              </p:ext>
            </p:extLst>
          </p:nvPr>
        </p:nvGraphicFramePr>
        <p:xfrm>
          <a:off x="548640" y="4434840"/>
          <a:ext cx="11091672" cy="1581912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검증 질문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답변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직전 캠페인 대비 두 배 이상인 목표를 어떻게 달성할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오가닉 도달 1만의 한계를 광고 · 인플루언서로 메우고, '안 사도 와도 되는' 평일 저녁 코스와 가입 쿠폰을 한 동선으로 이어 가입까지 연결합니다.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7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목표에 미달했을 때 무엇을 근거로 성과를 설명할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인지 · 행동 지표(도달, 코스 참여, 가입 경로)와 1인당 획득 비용 개선 폭(21.7만원 → 목표 10만원)으로 설명합니다.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5A38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캠페인은 브랜드 목표를 추구합니다. 매출만으로 평가하면 거의 항상 실패로 나온다는 점을 기억하십시오.</a:t>
            </a:r>
            <a:endParaRPr lang="en-US" sz="1150" dirty="0"/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D27FA81A-FDBD-0646-6A81-8E574CBD8BC0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2800"/>
            <a:ext cx="11112500" cy="63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4850" y="323850"/>
            <a:ext cx="1981200" cy="1193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 sz="900"/>
          </a:p>
        </p:txBody>
      </p:sp>
      <p:sp>
        <p:nvSpPr>
          <p:cNvPr id="8" name="TextBox 8"/>
          <p:cNvSpPr txBox="1"/>
          <p:nvPr/>
        </p:nvSpPr>
        <p:spPr>
          <a:xfrm>
            <a:off x="615950" y="1308100"/>
            <a:ext cx="563245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4499"/>
              </a:lnSpc>
            </a:pPr>
            <a:r>
              <a:rPr lang="en-US" altLang="ko-KR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▒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프로젝트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발표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및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평가</a:t>
            </a:r>
            <a:r>
              <a:rPr lang="en-US" cap="all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cap="all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기준</a:t>
            </a:r>
            <a:endParaRPr lang="en-US" cap="all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8550" y="3365500"/>
            <a:ext cx="10204450" cy="190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8550" y="4387850"/>
            <a:ext cx="10204450" cy="190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098550" y="5410200"/>
            <a:ext cx="10204450" cy="190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2622550"/>
            <a:ext cx="533400" cy="5016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816100" y="288925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트렌드, 타깃, 메시지, 캠페인명·슬로건, 컨셉, 운영, 채널, KPI를 체계적으로 설명합니다.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6100" y="254000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발표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구성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" y="3644900"/>
            <a:ext cx="533400" cy="5016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816100" y="391160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트렌드를 우리 고객 데이터로 확인하고, 20~30대 신규 고객의 상황으로 해석했는지 평가합니다.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16100" y="356235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트렌드 · 타깃 분석의 정확성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4667250"/>
            <a:ext cx="533400" cy="50165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816100" y="493395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경쟁사와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차별화된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신선한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경험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제안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여부를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평가합니다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16100" y="458470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캠페인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컨셉의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창의성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5689600"/>
            <a:ext cx="533400" cy="50165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816100" y="5956300"/>
            <a:ext cx="91567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0310"/>
              </a:lnSpc>
            </a:pP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채널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메시지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일관성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예산·일정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내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실행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가능성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, KPI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타당성을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종합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 </a:t>
            </a:r>
            <a:r>
              <a:rPr lang="en-US" sz="1612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평가합니다</a:t>
            </a:r>
            <a:r>
              <a:rPr lang="en-US" sz="1612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Geologica Roman Regula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16100" y="5607050"/>
            <a:ext cx="91694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0350"/>
              </a:lnSpc>
            </a:pP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통합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마케팅의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일관성과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실행</a:t>
            </a:r>
            <a:r>
              <a:rPr lang="en-US" sz="1967" b="1" dirty="0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 </a:t>
            </a:r>
            <a:r>
              <a:rPr lang="en-US" sz="1967" b="1" dirty="0" err="1">
                <a:solidFill>
                  <a:srgbClr val="000000"/>
                </a:solidFill>
                <a:latin typeface="a고딕13" panose="02020600000000000000" pitchFamily="18" charset="-127"/>
                <a:ea typeface="a고딕13" panose="02020600000000000000" pitchFamily="18" charset="-127"/>
                <a:cs typeface="high1 Wonchuri Title M"/>
              </a:rPr>
              <a:t>가능성</a:t>
            </a:r>
            <a:endParaRPr lang="en-US" sz="1967" b="1" dirty="0">
              <a:solidFill>
                <a:srgbClr val="000000"/>
              </a:solidFill>
              <a:latin typeface="a고딕13" panose="02020600000000000000" pitchFamily="18" charset="-127"/>
              <a:ea typeface="a고딕13" panose="02020600000000000000" pitchFamily="18" charset="-127"/>
              <a:cs typeface="high1 Wonchuri Title M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8F9E8AB3-2B37-19AD-95FC-0425F938C8CD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⑪  캠페인 기획안 1페이지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앞선 워크시트를 옮겨 담으십시오. 새로 쓰는 것이 아닙니다.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45분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140179"/>
              </p:ext>
            </p:extLst>
          </p:nvPr>
        </p:nvGraphicFramePr>
        <p:xfrm>
          <a:off x="548640" y="1783080"/>
          <a:ext cx="11091672" cy="3878172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가져올 워크시트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 분석과 캠페인 방향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CASE ① ② · WS 01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목표 · 타깃 ·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02 · 03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캠페인명과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04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브랜드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05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채널 전략과 IMC 여정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06 · 07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운영계획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08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예산 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09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8. KPI와 기대효과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10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621792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7607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여덟 칸이 하나의 메시지로 이어지는지 확인하십시오. 슬로건과 채널 콘텐츠가 따로 놀면 IMC가 성립하지 않습니다.</a:t>
            </a:r>
            <a:endParaRPr lang="en-US" sz="12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BC0920AF-BABB-86DC-1810-50F062616E8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⑪  캠페인 기획안 1페이지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앞선 워크시트를 옮겨 담으십시오. 새로 쓰는 것이 아닙니다.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140179"/>
              </p:ext>
            </p:extLst>
          </p:nvPr>
        </p:nvGraphicFramePr>
        <p:xfrm>
          <a:off x="548640" y="1783080"/>
          <a:ext cx="11091672" cy="3878172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구성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가져올 워크시트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 분석과 캠페인 방향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— 방문 목적 1위 '기분 전환' 38% · 평일 저녁 방문 41% → 경험형 (RE:JOICE 벤치마킹)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CASE ① ② · WS 01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목표 · 타깃 ·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주 목표 신규 회원 5,000명 · 타깃 27~34세 직장인 · "퇴근 후 들를 곳이 없다"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02 · 03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캠페인명과 슬로건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MOOD SHIFT — "오늘 기분, 롯데에서 바꿔요"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04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브랜드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들를 곳 없는 퇴근길 → 30분 코스 → 안 사도 기분이 바뀜 → 하루를 회복시키는 공간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05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5. 채널 전략과 IMC 여정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릴스 · 인플루언서 → 앱 가입 쿠폰 → 무드 라운지 · 팝업 → 라이브 → 스탬프 재방문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06 · 07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6. 운영계획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3주 · 평일 18~21시 집중 · 2주차 금요일 '무드 나이트' 피크 · 방문 3.5만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08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7. 예산 계획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5억 — 공간 26 · 콘텐츠 14 · 디지털 20 · 인플루언서·라이브 16 · 혜택 10 · 인력 9 · 예비 5 (%)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09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09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8. KPI와 기대효과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도달 10만 · 신규 회원 5,000명 (1인당 10만원) · 신규 고객 40% · 매출 +25% · 만족 85%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WS 10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5760720"/>
            <a:ext cx="11091672" cy="621792"/>
          </a:xfrm>
          <a:prstGeom prst="rect">
            <a:avLst/>
          </a:prstGeom>
          <a:solidFill>
            <a:srgbClr val="FBED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57607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31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여덟 칸이 하나의 메시지로 이어지는지 확인하십시오. 슬로건과 채널 콘텐츠가 따로 놀면 IMC가 성립하지 않습니다.</a:t>
            </a:r>
            <a:endParaRPr lang="en-US" sz="1250" dirty="0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BC0920AF-BABB-86DC-1810-50F062616E8A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⑫  발표와 상호 평가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팀당 8분 발표, 4분 질의응답입니다.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60분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______________          작성자   ______________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0312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발표 순서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담을 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배분 시간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트렌드와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어떤 트렌드에서 누구의 어떤 상황을 보았는가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캠페인명과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무엇을 말하는 캠페인인가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채널 전략과 운영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어디서 어떻게 만날 것인가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예산과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얼마를 써서 무엇을 얻는가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2414016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평가 항목 (각 25점)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한 줄 코멘트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· 타깃 분석의 정확성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컨셉의 창의성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통합 마케팅의 일관성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실행 가능성 (예산·일정·KPI)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6D7CB400-813E-FFDC-21F7-A8C0515B8B9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⑫  발표와 상호 평가  ·  예시 답안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팀당 8분 발표, 4분 질의응답입니다.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예시 답안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53935" y="1298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팀명   MOOD SHIFT (예시 팀)          작성자   강사 예시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03120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발표 순서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담을 내용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배분 시간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1. 트렌드와 인사이트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필코노미 신호 두 개로, 퇴근 후 20~30대 직장인의 '들를 곳 없음'을 보았다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2. 캠페인명과 스토리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MOOD SHIFT — 사지 않아도 기분이 바뀌는 30분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3. 채널 전략과 운영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릴스 · 인플루언서 → 앱 가입 → 무드 라운지 → 라이브 → 스탬프 재방문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4. 예산과 KPI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0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5억으로 신규 회원 5,000명, 1인당 획득 비용 21.7만원 → 10만원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2414016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3891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평가 항목 (각 25점)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Bold" pitchFamily="34" charset="-120"/>
                        </a:rPr>
                        <a:t>예시 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팀 ____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한 줄 코멘트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트렌드 · 타깃 분석의 정확성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데이터 두 개로 트렌드를 확인해 설득력 있음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컨셉의 창의성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'안 사도 되는 백화점'이라는 역발상이 차별적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통합 마케팅의 일관성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23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일곱 단계 여정 모두 '기분' 메시지 유지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실행 가능성 (예산·일정·KPI)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19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저녁 피크 인력 운영을 더 구체화할 필요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31313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합계</a:t>
                      </a: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1050" b="0" dirty="0">
                          <a:solidFill>
                            <a:srgbClr val="1F4E9A"/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Pretendard Regular" pitchFamily="34" charset="-120"/>
                        </a:rPr>
                        <a:t>84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ko-KR" sz="1050" b="0" dirty="0">
                        <a:solidFill>
                          <a:srgbClr val="1F4E9A"/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Pretendard Regular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6D7CB400-813E-FFDC-21F7-A8C0515B8B9E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앱 한눈에 보기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모든 조가 같은 앱에서 실습 ①~⑫를 쓰고, 강사는 강사방에서 모든 조의 시트를 한 번에 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사용법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1529334" cy="16002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1856231"/>
            <a:ext cx="130987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093976"/>
            <a:ext cx="130987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QR로 입장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404872"/>
            <a:ext cx="1309878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가입 · 로그인 없이 휴대폰으로 열고 우리 조를 고릅니다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9686" y="1783080"/>
            <a:ext cx="237744" cy="1600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9141" y="1783080"/>
            <a:ext cx="1529334" cy="16002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88870" y="1856231"/>
            <a:ext cx="130987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8870" y="2093976"/>
            <a:ext cx="130987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게임 · 케이스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8870" y="2404872"/>
            <a:ext cx="1309878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2026 트렌드 게임으로 용어를 익히고 케이스 ① ②를 읽습니다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0187" y="1783080"/>
            <a:ext cx="237744" cy="1600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09644" y="1783080"/>
            <a:ext cx="1529334" cy="160020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19372" y="1856231"/>
            <a:ext cx="130987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9372" y="2093976"/>
            <a:ext cx="130987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실습 라운드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9372" y="2404872"/>
            <a:ext cx="1309878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강사가 여는 라운드마다 시트를 쓰고 제출합니다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0690" y="1783080"/>
            <a:ext cx="237744" cy="1600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40145" y="1783080"/>
            <a:ext cx="1529334" cy="16002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49873" y="1856231"/>
            <a:ext cx="1309878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9873" y="2093976"/>
            <a:ext cx="1309878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발표 · PPT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9873" y="2404872"/>
            <a:ext cx="1309878" cy="9235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⑪ 1페이지로 발표하고 원본 시트 PPT로 내려받습니다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611880"/>
            <a:ext cx="32918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3721608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조 화면에서 보이는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023360"/>
            <a:ext cx="2926080" cy="13715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칸 아래 연한 회색 예시 — 형식만 알려 줍니다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"막히면 힌트" — 눌러야 보이는 질문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자동 점검 — 쓴 내용을 바로 확인해 줍니다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왜 이 단계를 하나요 — 목적 · 인사이트 · 다음 단계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7639" y="3611880"/>
            <a:ext cx="32918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160520" y="3721608"/>
            <a:ext cx="2926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강사방에서 하는 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023360"/>
            <a:ext cx="2926080" cy="13715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입장 QR 띄우기 · 조별 입장 현황 보기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 · 타이머 · +5분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예시 답안 보여 주기 / 다시 누르면 닫기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조별 진행표 · PPT 내려받기 · 다시 시작</a:t>
            </a:r>
          </a:p>
        </p:txBody>
      </p:sp>
      <p:pic>
        <p:nvPicPr>
          <p:cNvPr id="42" name="Picture 41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783080"/>
            <a:ext cx="4142232" cy="2912506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7498079" y="4768738"/>
            <a:ext cx="41422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조 화면 · 처음 화면 (조 고르기와 오늘의 순서)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수업 준비와 입장 · QR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강사가 강사방에서 QR을 띄우면, 교육생은 찍고 조만 고르면 됩니다. 들어온 조는 바로 보입니다.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사용법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3749039" cy="16916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3383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강사 · 수업 시작 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3383279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앱 위쪽 "강사" → 비밀번호 0000 → 강사 모드 켜기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왼쪽 메뉴 "강사방" 열기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"QR 크게 띄우기"를 빔프로젝터 화면에 띄우기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3749039" cy="1874519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721608"/>
            <a:ext cx="338327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교육생 · 입장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3383279" cy="13715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휴대폰 카메라로 QR 찍기 (가입 · 로그인 없음)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1~4조 중 우리 조 고르기 — 같은 조는 같은 번호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위쪽 "작성자"에 이름 쓰기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같은 조 조원은 한 시트를 함께 씁니다</a:t>
            </a:r>
          </a:p>
        </p:txBody>
      </p:sp>
      <p:pic>
        <p:nvPicPr>
          <p:cNvPr id="23" name="Picture 22" descr="room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1783080"/>
            <a:ext cx="7114032" cy="1616825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4526280" y="3445625"/>
            <a:ext cx="71140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강사방 맨 위 · 입장 QR과 주소</a:t>
            </a:r>
          </a:p>
        </p:txBody>
      </p:sp>
      <p:pic>
        <p:nvPicPr>
          <p:cNvPr id="25" name="Picture 24" descr="room-pres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79" y="3811385"/>
            <a:ext cx="7114032" cy="1422806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4526280" y="5279911"/>
            <a:ext cx="711403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입장 현황 · </a:t>
            </a: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초록 점 = 지금 접속 중. 앱을 닫으면 사라집니다. "조 선택으로 돌려보내기"는 쓴 내용을 남기고, "이 조 기록 지우기"는 그 조만 지웁니다.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트렌드 게임으로 먼저 익히기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실습 전에 2026 소비 트렌드 · 캠페인 유형 · 용어를 문제로 익힙니다. 답할 때마다 "왜 그런지"가 나옵니다.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사용법</a:t>
            </a:r>
            <a:endParaRPr lang="en-US" sz="1250" dirty="0"/>
          </a:p>
        </p:txBody>
      </p:sp>
      <p:pic>
        <p:nvPicPr>
          <p:cNvPr id="17" name="Picture 16" descr="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035040" cy="4243387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48640" y="6081331"/>
            <a:ext cx="6035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조 화면 · 트렌드 게임 · 용어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783080"/>
            <a:ext cx="4828032" cy="19202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95160" y="1892807"/>
            <a:ext cx="44622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게임 5단계 · 29문제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194560"/>
            <a:ext cx="446227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캠페인과 프로모션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2026 트렌드 키워드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고객 모습으로 트렌드 찾기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트렌드와 캠페인 유형 잇기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5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케이스 데이터로 판단하기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3840480"/>
            <a:ext cx="482803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5160" y="3950208"/>
            <a:ext cx="44622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강사 진행 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62272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조별로 10분 안팎. 틀려도 바로 "왜 그런가"가 나오므로 정답보다 이유를 읽게 하십시오.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마지막 "정리"에서 다섯 줄 요약과 용어 사전 17개를 함께 봅니다. 실습 중 모르는 용어가 나오면 이 화면으로 돌아옵니다.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라운드 진행과 예시 답안 공개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라운드를 열고, 조가 쓰고 제출하면, 예시 답안을 모든 조 화면에 띄워 비교합니다.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사용법</a:t>
            </a:r>
            <a:endParaRPr lang="en-US" sz="1250" dirty="0"/>
          </a:p>
        </p:txBody>
      </p:sp>
      <p:pic>
        <p:nvPicPr>
          <p:cNvPr id="17" name="Picture 16" descr="room-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93" y="1783080"/>
            <a:ext cx="5945852" cy="2743200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48640" y="4572000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강사방 · 라운드 · 타이머 · 예시 답안 버튼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83480"/>
            <a:ext cx="1969008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5056632"/>
            <a:ext cx="17495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294376"/>
            <a:ext cx="174955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605272"/>
            <a:ext cx="1749552" cy="6949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"실습 N 시작"을 누르면 제한 시간 타이머가 켜집니다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9360" y="4983480"/>
            <a:ext cx="237744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8816" y="4983480"/>
            <a:ext cx="1969008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828544" y="5056632"/>
            <a:ext cx="17495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8544" y="5294376"/>
            <a:ext cx="174955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 ·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8544" y="5605272"/>
            <a:ext cx="1749552" cy="6949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화면에 그 라운드까지만 열립니다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9536" y="4983480"/>
            <a:ext cx="237744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88992" y="4983480"/>
            <a:ext cx="1969008" cy="137160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98720" y="5056632"/>
            <a:ext cx="174955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8720" y="5294376"/>
            <a:ext cx="174955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8720" y="5605272"/>
            <a:ext cx="1749552" cy="6949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"예시 답안 보여 주기" — 다시 누르면 작성 칸으로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1783080"/>
            <a:ext cx="4553712" cy="201168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269480" y="1892807"/>
            <a:ext cx="4187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예시 답안 버튼은 이렇게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194560"/>
            <a:ext cx="4187952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누르면 모든 조 화면에 예시 팀 MOOD SHIFT의 답안이 같은 시트 모양으로 뜹니다.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다시 누르면 조가 쓰던 칸으로 돌아갑니다. 조가 쓴 내용은 지워지지 않습니다.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권장 순서 · 조가 먼저 쓰고 제출 → 예시 공개 → 비교 → 닫고 고치기</a:t>
            </a:r>
          </a:p>
        </p:txBody>
      </p:sp>
      <p:pic>
        <p:nvPicPr>
          <p:cNvPr id="36" name="Picture 35" descr="sheet-h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720" y="3977639"/>
            <a:ext cx="4297471" cy="2103120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7086600" y="6217920"/>
            <a:ext cx="455371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조 화면 · 회색 예시와 "막히면 힌트"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결과 모으기와 PPT 내려받기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조별 진행표에서 누가 어디까지 썼는지 보고, 원본 시트 모양의 PPT로 결과를 받습니다.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31313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사용법</a:t>
            </a:r>
            <a:endParaRPr lang="en-US" sz="1250" dirty="0"/>
          </a:p>
        </p:txBody>
      </p:sp>
      <p:pic>
        <p:nvPicPr>
          <p:cNvPr id="17" name="Picture 16" descr="room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49440" cy="2187494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48640" y="4016294"/>
            <a:ext cx="6949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강사방 · 조 × 라운드 진행표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97680"/>
            <a:ext cx="3383280" cy="14630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440740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진행표 읽기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301752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✓ 제출 · 40% 작성 중 · 점 아직 없음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칸을 누르면 그 조의 시트가 아래에 열립니다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라운드를 고르면 모든 조의 같은 시트를 나란히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297680"/>
            <a:ext cx="3383280" cy="14630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97680" y="440740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내려받기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09160"/>
            <a:ext cx="301752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모든 조 PPT (zip) · 조별 "받기"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예시 팀 PPT — 강사 설명용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교육생도 "내보내기 · 백업 → 원본 시트 PPT"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79" y="1783080"/>
            <a:ext cx="3913632" cy="18288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909559" y="1892807"/>
            <a:ext cx="35478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수업이 끝나면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59" y="2194560"/>
            <a:ext cx="3547872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맨 아래 "다시 시작"을 두 번 누르면 모든 조의 내용과 라운드가 지워집니다.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되돌릴 수 없으니 먼저 "모든 조 PPT 내려받기"로 보관하십시오.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749039"/>
            <a:ext cx="3913632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09559" y="3858768"/>
            <a:ext cx="354787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연결이 안 될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59" y="4160520"/>
            <a:ext cx="3547872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조가 "내보내기 · 백업 → 백업 코드 복사"로 코드를 보내고, 강사는 강사방 "제출 코드로 모으기"에 붙여 넣습니다.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앱으로 진행하기 · 고객 트렌드 분석과 캠페인 방향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트렌드를 고르는 것이 아니라, 우리 고객에게 나타난 신호를 고르십시오.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40분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트렌드는 모든 백화점에 똑같이 주어집니다. 차이는 우리 고객 데이터에서 그 신호를 확인하는 데서 나옵니다. 캠페인의 근거를 "요즘 유행"이 아니라 "우리 고객에게 실제로 나타난 변화"에 두기 위해 이 단계부터 시작합니다.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트렌드 키워드를 다섯 개 모아 놓은 것은 조사입니다. 하나를 고르고 나머지를 버려야 전략이 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유행하는 키워드라도 케이스 ② 데이터에 신호가 없으면 우리 캠페인의 근거가 될 수 없습니다.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두 개의 신호가 같은 고객 상황을 가리키면, 그것이 가장 믿을 만한 근거입니다.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고객 상황 → 캠페인 유형 → 카테고리 · 상품까지 내려와야 MD의 캠페인입니다.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여기서 고른 트렌드 하나가 ② 목표 · 타깃을 좁히는 기준이 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트렌드 키워드를 고르면 케이스 ② 신호가 자동으로 뜹니다. 신호 강도 "강"을 하나로 좁혔는지 점검하고, 캠페인 유형 카드에서 대표 사례의 공식을 가져옵니다.</a:t>
            </a:r>
          </a:p>
        </p:txBody>
      </p:sp>
      <p:pic>
        <p:nvPicPr>
          <p:cNvPr id="27" name="Picture 26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① 시작" · 40분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①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①  앱으로 진행하기 · 캠페인 유형 고르기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유형을 고르면 대표 사례가 열리고, 그 사례에서 "가져올 요소" = 공식(순서)을 가져옵니다.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</a:t>
            </a:r>
            <a:endParaRPr lang="en-US" sz="1250" dirty="0"/>
          </a:p>
        </p:txBody>
      </p:sp>
      <p:pic>
        <p:nvPicPr>
          <p:cNvPr id="17" name="Picture 16" descr="typep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1" y="1783080"/>
            <a:ext cx="4978908" cy="4526280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492240" y="6345936"/>
            <a:ext cx="51480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경험형을 고르고 우리 캠페인에 적용한 모습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83080"/>
            <a:ext cx="1770887" cy="14630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1856231"/>
            <a:ext cx="15514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093976"/>
            <a:ext cx="15514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인사이트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404872"/>
            <a:ext cx="1551432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③의 문장이 위에 보입니다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1240" y="1783080"/>
            <a:ext cx="237744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0696" y="1783080"/>
            <a:ext cx="1770887" cy="14630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630424" y="1856231"/>
            <a:ext cx="15514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0424" y="2093976"/>
            <a:ext cx="15514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유형 카드 5개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0424" y="2404872"/>
            <a:ext cx="1551432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"이럴 때 고른다"를 보고 하나만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3296" y="1783080"/>
            <a:ext cx="237744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2752" y="1783080"/>
            <a:ext cx="1770887" cy="14630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602480" y="1856231"/>
            <a:ext cx="15514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2480" y="2093976"/>
            <a:ext cx="15514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참고 사례 보기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2480" y="2404872"/>
            <a:ext cx="1551432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사례 · 공식 · 각 칸의 내용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383280"/>
            <a:ext cx="1770887" cy="14630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3456432"/>
            <a:ext cx="15514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694176"/>
            <a:ext cx="15514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우리 캠페인에 적용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05072"/>
            <a:ext cx="1551432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같은 칸이 빈칸으로 나옵니다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1240" y="3383280"/>
            <a:ext cx="237744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20696" y="3383280"/>
            <a:ext cx="1770887" cy="146304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630424" y="3456432"/>
            <a:ext cx="15514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STEP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30424" y="3694176"/>
            <a:ext cx="15514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참고 예시 보기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0424" y="4005072"/>
            <a:ext cx="1551432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정답이 아니라 참고 예시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3296" y="3383280"/>
            <a:ext cx="237744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92752" y="3383280"/>
            <a:ext cx="1770887" cy="146304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602480" y="3456432"/>
            <a:ext cx="155143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STEP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2480" y="3694176"/>
            <a:ext cx="15514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벤치마킹 칸에 넣기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2480" y="4005072"/>
            <a:ext cx="1551432" cy="7863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한 줄로 자동 정리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29200"/>
            <a:ext cx="57150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1520" y="5102352"/>
            <a:ext cx="5349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강사 멘트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"RE:JOICE에서 상담 카페를 가져오는 게 아니에요. 순서만 가져와서, 칸 안은 우리 고객 이야기로 채우는 거예요."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유형은 다섯 가지로만 고릅니다 — 고객 참여형 · 리워드형 · 브랜드 브랜딩형 · 경험형 · 기업 연합형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②  앱으로 진행하기 · 캠페인 목표와 타깃 정의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목표를 캠페인 언어로 다시 쓰고, 실습 ①의 트렌드로 타깃을 좁히십시오.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30분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주어진 목표 다섯 개를 모두 쫓으면 채널 · 예산 · KPI가 서로 다른 방향을 봅니다. 주 목표 하나와 부 목표 하나를 정해야 이후 모든 결정이 한 방향으로 모입니다. 타깃도 "20~30대 전체"가 아니라 ①에서 고른 트렌드 신호가 가장 강한 사람으로 좁힙니다.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직전 캠페인은 신규 회원 2,300명 · SNS 도달 6.5만입니다. 목표는 두 배가 넘습니다. 같은 방식으로는 도달할 수 없습니다.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"백화점에 오지 않는 이유"가 곧 캠페인이 풀어야 할 과제입니다.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세그먼트를 둘로 나누고 우선순위를 매겨야 메시지를 한 사람에게 말할 수 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1순위 세그먼트가 처한 상황이 ③ 고객 인사이트의 재료가 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주 목표 · 부 목표를 하나씩만 골랐는지 점검하고, 직전 캠페인 대비 몇 배인지(2.2배 · 1.5배) 보여 줍니다.</a:t>
            </a:r>
          </a:p>
        </p:txBody>
      </p:sp>
      <p:pic>
        <p:nvPicPr>
          <p:cNvPr id="27" name="Picture 26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② 시작" · 30분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②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③  앱으로 진행하기 · 고객 인사이트 도출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"이런 걸 좋아할 것이다"가 아니라 "이런 상황에 있다"를 적으십시오.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30분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"20대는 감성 팝업을 좋아할 것이다"는 추측이고, "퇴근 후 들를 곳이 없어 편의점 디저트로 달랜다"는 관찰입니다. 상황을 적어야 그 상황을 바꾸는 캠페인이 나옵니다.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형식을 지키십시오 — [상황]일 때 [행동]하는데 [이유] 때문에 [불만 · 욕구]를 느낀다.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근거 칸에는 케이스 ② 수치를 적습니다. 데이터 두 개가 같은 상황을 가리킬 때 가장 강한 인사이트입니다.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경쟁사가 "살 이유"를 만들 때, 아무도 주지 않은 "안 사도 와도 된다는 허락"도 인사이트가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가장 강한 인사이트 한 줄이 ④ 캠페인명 · 슬로건의 출발점입니다.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인사이트마다 상황 · 근거 · 유형이 빠졌는지 점검합니다. 근거 칸에 케이스 ② 수치를 넣으라고 알려 줍니다.</a:t>
            </a:r>
          </a:p>
        </p:txBody>
      </p:sp>
      <p:pic>
        <p:nvPicPr>
          <p:cNvPr id="27" name="Picture 26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③ 시작" · 30분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③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④  앱으로 진행하기 · 캠페인명과 슬로건 개발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인사이트 → 브랜드가 줄 것 → 고객의 변화 → 한 문장 순서로 만드십시오.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40분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고객은 캠페인을 한 문장으로 기억합니다. 제로클릭 시대에는 AI가 캠페인을 요약해 주기 때문에, 한 문장으로 요약되지 않는 캠페인은 고객에게 닿지 않습니다.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"최고의 상품을 만나보세요"는 우리 이야기입니다. 고객의 변화를 말해야 메시지입니다.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처음부터 짧게 쓰려고 하면 알맹이가 빠집니다. 길게 쓴 뒤 깎아 내십시오.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읽지 말고 소리 내어 말해 보십시오. 입에 붙는지가 최종 시험입니다.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좋은 메시지의 네 조건 — 간결한가 · 기억하기 쉬운가 · 감성을 자극하는가 · 브랜드와 연결되는가.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고른 슬로건이 ⑤ 스토리의 결론이자 ⑦ 일곱 단계 모두에서 반복할 메시지가 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고른 안을 캠페인명 · 슬로건 포스터로 보여 주고, 슬로건 글자 수(20자)와 네 조건 충족 개수를 셉니다.</a:t>
            </a:r>
          </a:p>
        </p:txBody>
      </p:sp>
      <p:pic>
        <p:nvPicPr>
          <p:cNvPr id="27" name="Picture 26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④ 시작" · 40분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④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⑤  앱으로 진행하기 · 브랜드 스토리텔링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네 칸이 하나의 이야기로 이어지는지 소리 내어 읽어 확인하십시오.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30분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채널이 많아질수록 각 채널이 다른 말을 하기 쉽습니다. 문제 → 해결 → 고객 경험 → 브랜드 가치를 하나의 이야기로 묶어 두면, 릴스 · 인플루언서 · 매장 안내가 모두 같은 이야기의 한 조각이 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네 칸을 이어서 소리 내어 읽었을 때 한 문단으로 들려야 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① 문제에는 ③ 인사이트의 상황을, ② 해결에는 실제 공간 · 프로그램 이름을 적습니다.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④ 가치는 "물건을 파는 곳"을 넘어 고객에게 어떤 곳이 되는지를 말합니다.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이 이야기를 ⑥ 채널별 콘텐츠로 나눠 싣습니다.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네 칸을 이어 한 문단으로 보여 줍니다. 빈 칸은 [비어 있음]으로 표시됩니다.</a:t>
            </a:r>
          </a:p>
        </p:txBody>
      </p:sp>
      <p:pic>
        <p:nvPicPr>
          <p:cNvPr id="27" name="Picture 26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⑤ 시작" · 30분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⑤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⑥  앱으로 진행하기 · 채널 믹스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채널마다 역할을 하나씩 정하십시오. 모든 채널이 모든 일을 할 수는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35분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채널마다 잘하는 일이 다릅니다. 인스타 릴스는 인지, 라이브커머스는 즉시 구매, 앱 푸시는 재방문에 강합니다. 도달이 목적인지 전환이 목적인지에 따라 채널과 예산을 골라야 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신규 고객 확보가 목표라면 앱 푸시 · 멤버십에 예산을 쏟아도 소용이 없습니다. 이미 우리 회원인 사람에게만 닿기 때문입니다.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인스타 오가닉 도달은 팔로워 12만 × 도달률 8% ≈ 1만입니다. 목표 10만은 광고 · 인플루언서로 채워야 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인플루언서는 팔로워 수보다 참여율을 확인하십시오.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여기서 정한 채널 비중이 ⑨ 예산의 디지털 · 인플루언서 · 공간 항목과 맞아야 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채널 비중 합계, 앱 푸시 12만 × 8% 경고, ⑨ 예산과 비중이 맞는지 교차 점검합니다.</a:t>
            </a:r>
          </a:p>
        </p:txBody>
      </p:sp>
      <p:pic>
        <p:nvPicPr>
          <p:cNvPr id="27" name="Picture 26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⑥ 시작" · 35분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⑥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⑦  앱으로 진행하기 · IMC 고객 여정 설계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일곱 단계에서 같은 메시지가 유지되는지 확인하는 것이 이 실습의 목적입니다.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35분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채널이 따로 움직이면 고객은 여러 광고를 본 것이 아니라 아무것도 기억하지 못합니다. SNS에서 재방문까지 일곱 단계가 같은 메시지를 이어 말해야 효과가 쌓입니다(IMC).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단계마다 "다음 단계로 넘기는 장치"가 없으면 여정이 그 자리에서 끊깁니다.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가장 끊기기 쉬운 곳은 체험 → 구매로 넘어가는 라이브커머스입니다. "상품 판매" 말투로 바뀌기 쉽습니다.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반복 메시지는 ④에서 고른 슬로건을 단계에 맞게 변주한 것입니다.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여정의 장치(스탬프 · 쿠폰 · 코스)가 ⑧ 운영 프로그램이 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④ 슬로건의 핵심어가 일곱 단계 메시지마다 이어지는지, 다음 단계로 넘기는 장치가 빈 곳은 없는지 봅니다.</a:t>
            </a:r>
          </a:p>
        </p:txBody>
      </p:sp>
      <p:pic>
        <p:nvPicPr>
          <p:cNvPr id="27" name="Picture 26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⑦ 시작" · 35분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⑦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⑧  앱으로 진행하기 · 운영계획 수립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3주간 무엇을 언제 어디서 할지, 트렌드 신호를 근거로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40분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3주 내내 같은 강도로 운영할 수는 없습니다. 트렌드 신호가 가장 강한 시기 · 시간대 · 공간에 인력과 프로그램을 모아야 같은 예산으로 더 많은 고객을 만납니다.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"결정 근거" 칸에는 케이스 데이터를 적습니다. 예) 평일 18~21시 방문 41% → 저녁 집중 운영.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팝업 후 다른 층 이동률이 22%라면, 층을 잇는 장치(스탬프 · 코스)가 필요합니다.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오프닝 → 피크 → 마무리로 강약을 두고, 피크 주에 가장 큰 이벤트를 놓습니다.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운영 규모(공간 · 인력 · 프로그램)가 ⑨ 예산 항목의 금액을 정합니다.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주차별 예상 방문객 합계와 피크 주를 계산하고, 가장 큰 이벤트가 피크 주와 같은지 묻습니다.</a:t>
            </a:r>
          </a:p>
        </p:txBody>
      </p:sp>
      <p:pic>
        <p:nvPicPr>
          <p:cNvPr id="27" name="Picture 26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⑧ 시작" · 40분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⑧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⑨  앱으로 진행하기 · 예산 배분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총 5억원입니다. 채널 믹스(실습 ⑥)의 비중과 어긋나지 않게 맞추십시오.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30분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예산표는 전략을 숫자로 옮긴 것입니다. ⑥에서 "인스타가 핵심"이라고 해 놓고 예산은 공간에 몰려 있다면, 두 계획 중 하나는 거짓입니다.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⑥의 인스타 + 유튜브 + 앱 비중이 "디지털 광고 · SNS", 인플루언서 + 라이브가 "인플루언서 · 라이브커머스" 항목과 같아야 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1인당 획득 비용 = 5억 ÷ 5,000명 = 10만원. 직전 캠페인은 같은 예산 ÷ 2,300명 ≈ 21.7만원이었습니다. 절반 이하로 낮춰야 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0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예비비는 2주차 성과를 본 뒤 반응 좋은 채널에 다시 나눕니다.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1인당 획득 비용이 ⑩ KPI 검증 질문의 근거가 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비중(%)을 넣으면 5억 기준 금액과 1인당 획득 비용을 계산하고, ⑥ 채널 비중과 어긋나면 알려 줍니다.</a:t>
            </a:r>
          </a:p>
        </p:txBody>
      </p:sp>
      <p:pic>
        <p:nvPicPr>
          <p:cNvPr id="27" name="Picture 26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⑨ 시작" · 30분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⑨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⑩  앱으로 진행하기 · KPI 설정과 측정 계획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퍼널 단계별로 대표 지표를 고르고 측정 방법까지 정하십시오.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35분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브랜드 캠페인을 매출로만 재면 거의 항상 실패로 나옵니다. 인지 → 관심 → 행동 → 전환 → 관계로 나눠 봐야 어디서 성공했고 어디서 막혔는지 설명할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신규 고객 확보가 목표라면 대표 지표는 "인지"와 "행동"입니다. 전환은 부지표로 두고, 그 사실을 기획 단계에서 적어 둡니다.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측정 방법과 시점까지 정해야 KPI입니다. "SNS 반응 좋음"은 KPI가 아닙니다.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목표에 미달해도 설명할 근거(도달 · 참여 · 1인당 비용 개선 폭)를 미리 정해 둡니다.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앞의 결정을 ⑪ 기획안 1페이지에 옮겨 담습니다.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"주" 표시한 KPI가 하나인지, 목표와 측정 방법이 비었는지 점검합니다.</a:t>
            </a:r>
          </a:p>
        </p:txBody>
      </p:sp>
      <p:pic>
        <p:nvPicPr>
          <p:cNvPr id="27" name="Picture 26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⑩ 시작" · 35분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⑩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⑪  앱으로 진행하기 · 캠페인 기획안 1페이지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앞선 워크시트를 옮겨 담으십시오. 새로 쓰는 것이 아닙니다.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45분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열 장의 워크시트가 하나의 캠페인인지 확인하는 마지막 점검입니다. 새로 쓰면 앞의 결정과 어긋나기 쉽습니다. 옮겨 담으면서 여덟 칸이 한 메시지로 이어지는지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여덟 칸을 위에서 아래로 읽었을 때 같은 트렌드 · 같은 고객 · 같은 슬로건이 계속 나와야 합니다.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슬로건과 채널 콘텐츠가 따로 놀면 IMC가 성립하지 않습니다.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"초안 불러오기"로 앞 시트를 모은 뒤, 한 줄씩 줄여 쓰십시오.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이 1페이지가 ⑫ 8분 발표의 대본이 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"앞 시트에서 가져오기"를 누르면 ①~⑩에서 8칸 초안이 채워집니다. 새로 쓰지 않고 다듬습니다.</a:t>
            </a:r>
          </a:p>
        </p:txBody>
      </p:sp>
      <p:pic>
        <p:nvPicPr>
          <p:cNvPr id="27" name="Picture 26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⑪ 시작" · 45분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⑪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05277619-647B-DA4F-0092-40539810B1E7}"/>
              </a:ext>
            </a:extLst>
          </p:cNvPr>
          <p:cNvSpPr/>
          <p:nvPr/>
        </p:nvSpPr>
        <p:spPr>
          <a:xfrm>
            <a:off x="659396" y="147829"/>
            <a:ext cx="6230817" cy="504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spcBef>
                <a:spcPts val="0"/>
              </a:spcBef>
              <a:spcAft>
                <a:spcPts val="0"/>
              </a:spcAft>
              <a:defRPr lang="ko-KR">
                <a:latin typeface="KoPub돋움체 Bold"/>
                <a:ea typeface="KoPub돋움체 Bold"/>
              </a:defRPr>
            </a:pPr>
            <a:r>
              <a:rPr lang="en-US" altLang="ko-KR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3-2. </a:t>
            </a:r>
            <a:r>
              <a:rPr lang="ko-KR" altLang="en-US" sz="2800" dirty="0">
                <a:solidFill>
                  <a:schemeClr val="tx1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캠페인 기획 실습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50292" cy="365760"/>
          </a:xfrm>
          <a:prstGeom prst="rect">
            <a:avLst/>
          </a:prstGeom>
          <a:solidFill>
            <a:srgbClr val="E05A3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8412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31313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Bold" pitchFamily="34" charset="-120"/>
              </a:rPr>
              <a:t>실습 ⑫  앱으로 진행하기 · 발표와 상호 평가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12984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Pretendard Light" pitchFamily="34" charset="-120"/>
              </a:rPr>
              <a:t>팀당 8분 발표, 4분 질의응답입니다.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180015" y="868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F4E9A"/>
          </a:solidFill>
          <a:ln/>
        </p:spPr>
      </p:sp>
      <p:sp>
        <p:nvSpPr>
          <p:cNvPr id="10" name="Text 8"/>
          <p:cNvSpPr/>
          <p:nvPr/>
        </p:nvSpPr>
        <p:spPr>
          <a:xfrm>
            <a:off x="10180015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앱 안내 · 60분</a:t>
            </a:r>
            <a:endParaRPr lang="en-US" sz="1250" dirty="0"/>
          </a:p>
        </p:txBody>
      </p:sp>
      <p:sp>
        <p:nvSpPr>
          <p:cNvPr id="17" name="Rectangle 16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1892807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왜 이 단계를 하나요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94560"/>
            <a:ext cx="512064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다른 조의 기획을 평가하면 우리 기획의 빈틈이 보입니다. 평가 기준 네 가지는 이 과정의 네 덩어리(트렌드 · 타깃 / 컨셉 / 통합 마케팅 / 실행)와 같습니다.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73552"/>
            <a:ext cx="548640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5120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5120640" cy="1344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발표는 ⑪ 1페이지의 순서를 그대로 따릅니다. 새 내용을 넣지 않습니다.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점수보다 "한 줄 코멘트"가 중요합니다. 무엇이 좋았는지, 무엇을 더 구체화할지 한 줄씩 적습니다.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케이스 수치는 두세 개만 인용하십시오. 숫자가 많으면 메시지가 흐려집니다.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54864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5239512"/>
            <a:ext cx="512064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>
                <a:solidFill>
                  <a:srgbClr val="2E7D32"/>
                </a:solidFill>
                <a:latin typeface="a고딕12"/>
                <a:ea typeface="a고딕12"/>
                <a:cs typeface="a고딕12"/>
              </a:rPr>
              <a:t>다음 단계로   </a:t>
            </a:r>
            <a:r>
              <a:rPr sz="10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평가가 끝나면 강사가 예시 팀 MOOD SHIFT와 비교해 정리합니다.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33872"/>
            <a:ext cx="5486400" cy="566928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512064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앱 자동 점검   </a:t>
            </a:r>
            <a:r>
              <a:rPr sz="9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발표 시간 합계(8분)와 상호 평가 점수 합계를 자동으로 계산합니다.</a:t>
            </a:r>
          </a:p>
        </p:txBody>
      </p:sp>
      <p:pic>
        <p:nvPicPr>
          <p:cNvPr id="27" name="Picture 26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141" y="1783080"/>
            <a:ext cx="5373669" cy="3584448"/>
          </a:xfrm>
          <a:prstGeom prst="rect">
            <a:avLst/>
          </a:prstGeom>
          <a:ln w="9525">
            <a:solidFill>
              <a:srgbClr val="D6D6D6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263640" y="5404104"/>
            <a:ext cx="537667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고딕12"/>
                <a:ea typeface="a고딕12"/>
                <a:cs typeface="a고딕12"/>
              </a:rPr>
              <a:t>앱 화면 · 강사가 "예시 답안 보여 주기"를 누른 모습 (예시 팀 MOOD SHIFT)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36792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1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라운드 시작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강사방 "실습 ⑫ 시작" · 60분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0667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3819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2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조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3819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회색 예시 · 막히면 힌트 · 자동 점검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5669280"/>
            <a:ext cx="1275588" cy="731520"/>
          </a:xfrm>
          <a:prstGeom prst="rect">
            <a:avLst/>
          </a:prstGeom>
          <a:solidFill>
            <a:srgbClr val="FB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70848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E05A38"/>
                </a:solidFill>
                <a:latin typeface="a고딕12"/>
                <a:ea typeface="a고딕12"/>
                <a:cs typeface="a고딕12"/>
              </a:rPr>
              <a:t>3  </a:t>
            </a:r>
            <a:r>
              <a:rPr sz="1050" b="1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제출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0848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131313"/>
                </a:solidFill>
                <a:latin typeface="a고딕12"/>
                <a:ea typeface="a고딕12"/>
                <a:cs typeface="a고딕12"/>
              </a:rPr>
              <a:t>"라운드 ⑫ 제출하기" → 강사방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64724" y="5669280"/>
            <a:ext cx="1275588" cy="731520"/>
          </a:xfrm>
          <a:prstGeom prst="rect">
            <a:avLst/>
          </a:prstGeom>
          <a:solidFill>
            <a:srgbClr val="E0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37876" y="5715000"/>
            <a:ext cx="112928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4  </a:t>
            </a:r>
            <a:r>
              <a:rPr sz="1050" b="1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37876" y="5989320"/>
            <a:ext cx="1129284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고딕12"/>
                <a:ea typeface="a고딕12"/>
                <a:cs typeface="a고딕12"/>
              </a:rPr>
              <a:t>예시 공개 → 비교 → 닫고 고치기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13596</TotalTime>
  <Words>8134</Words>
  <Application>Microsoft Office PowerPoint</Application>
  <PresentationFormat>사용자 지정</PresentationFormat>
  <Paragraphs>1523</Paragraphs>
  <Slides>56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5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741</cp:revision>
  <dcterms:created xsi:type="dcterms:W3CDTF">2023-03-30T02:09:27Z</dcterms:created>
  <dcterms:modified xsi:type="dcterms:W3CDTF">2026-09-27T18:24:08Z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