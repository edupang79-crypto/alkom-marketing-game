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slides/slide5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58"/>
  </p:notesMasterIdLst>
  <p:sldIdLst>
    <p:sldId id="1306" r:id="rId19"/>
    <p:sldId id="1285" r:id="rId22"/>
    <p:sldId id="1286" r:id="rId25"/>
    <p:sldId id="1287" r:id="rId30"/>
    <p:sldId id="1288" r:id="rId33"/>
    <p:sldId id="1289" r:id="rId40"/>
    <p:sldId id="1290" r:id="rId42"/>
    <p:sldId id="1291" r:id="rId45"/>
    <p:sldId id="1292" r:id="rId47"/>
    <p:sldId id="1293" r:id="rId51"/>
    <p:sldId id="1294" r:id="rId54"/>
    <p:sldId id="1295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22"/>
            <p14:sldId id="1264"/>
            <p14:sldId id="1280"/>
            <p14:sldId id="1265"/>
            <p14:sldId id="1296"/>
            <p14:sldId id="1297"/>
            <p14:sldId id="1298"/>
            <p14:sldId id="1299"/>
            <p14:sldId id="1300"/>
            <p14:sldId id="1301"/>
            <p14:sldId id="1302"/>
            <p14:sldId id="1266"/>
            <p14:sldId id="1275"/>
            <p14:sldId id="1303"/>
            <p14:sldId id="1304"/>
            <p14:sldId id="1284"/>
            <p14:sldId id="1305"/>
            <p14:sldId id="1306"/>
            <p14:sldId id="1307"/>
            <p14:sldId id="1267"/>
            <p14:sldId id="1285"/>
            <p14:sldId id="1308"/>
            <p14:sldId id="1268"/>
            <p14:sldId id="1286"/>
            <p14:sldId id="1309"/>
            <p14:sldId id="1269"/>
            <p14:sldId id="1283"/>
            <p14:sldId id="1276"/>
            <p14:sldId id="1287"/>
            <p14:sldId id="1310"/>
            <p14:sldId id="1270"/>
            <p14:sldId id="1288"/>
            <p14:sldId id="1311"/>
            <p14:sldId id="1271"/>
            <p14:sldId id="1272"/>
            <p14:sldId id="1273"/>
            <p14:sldId id="1281"/>
            <p14:sldId id="1274"/>
            <p14:sldId id="1289"/>
            <p14:sldId id="1312"/>
            <p14:sldId id="1290"/>
            <p14:sldId id="1313"/>
            <p14:sldId id="1277"/>
            <p14:sldId id="1291"/>
            <p14:sldId id="1314"/>
            <p14:sldId id="1292"/>
            <p14:sldId id="1315"/>
            <p14:sldId id="1278"/>
            <p14:sldId id="1282"/>
            <p14:sldId id="1293"/>
            <p14:sldId id="1316"/>
            <p14:sldId id="271"/>
            <p14:sldId id="1294"/>
            <p14:sldId id="1317"/>
            <p14:sldId id="1295"/>
            <p14:sldId id="1318"/>
          </p14:sldIdLst>
        </p14:section>
        <p14:section name="내지템플릿" id="{3037A2AB-4A6B-4C83-8556-AB3EFE8FE7EF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9068" autoAdjust="0"/>
    <p:restoredTop sz="90970" autoAdjust="0"/>
  </p:normalViewPr>
  <p:slideViewPr>
    <p:cSldViewPr>
      <p:cViewPr varScale="1">
        <p:scale>
          <a:sx n="105" d="100"/>
          <a:sy n="105" d="100"/>
        </p:scale>
        <p:origin x="-560" y="-76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30" Type="http://schemas.openxmlformats.org/officeDocument/2006/relationships/slide" Target="slides/slide29.xml"/><Relationship Id="rId33" Type="http://schemas.openxmlformats.org/officeDocument/2006/relationships/slide" Target="slides/slide32.xml"/><Relationship Id="rId40" Type="http://schemas.openxmlformats.org/officeDocument/2006/relationships/slide" Target="slides/slide39.xml"/><Relationship Id="rId42" Type="http://schemas.openxmlformats.org/officeDocument/2006/relationships/slide" Target="slides/slide41.xml"/><Relationship Id="rId45" Type="http://schemas.openxmlformats.org/officeDocument/2006/relationships/slide" Target="slides/slide44.xml"/><Relationship Id="rId47" Type="http://schemas.openxmlformats.org/officeDocument/2006/relationships/slide" Target="slides/slide46.xml"/><Relationship Id="rId51" Type="http://schemas.openxmlformats.org/officeDocument/2006/relationships/slide" Target="slides/slide50.xml"/><Relationship Id="rId54" Type="http://schemas.openxmlformats.org/officeDocument/2006/relationships/slide" Target="slides/slide53.xml"/><Relationship Id="rId56" Type="http://schemas.openxmlformats.org/officeDocument/2006/relationships/slide" Target="slides/slide55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="" xmlns:a16="http://schemas.microsoft.com/office/drawing/2014/main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11" r:id="rId3"/>
    <p:sldLayoutId id="214748371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목적 1위 '기분 전환' 38% (+9%p) · 평일 18~21시 방문 41% (+6%p)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기분을 풀려고 들르지만 머물 이유가 없어 금방 나간다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30분 기분 전환 코스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픽셀 라이프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1회 체류 52분 (−14분) · 팝업 후 다른 층 이동률 22%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들러 팝업만 보고 떠난다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층을 잇는 미니 체험 · 스탬프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1.5가구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방문 문의 월 1,150건 (+45%)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 살지만 반려동물과 함께 나올 곳을 찾는다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라운지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두 신호(방문 목적 1위, 평일 저녁 방문 증가)가 같은 고객 상황을 가리키고, 20~30대 신규 유입 목표와 가장 가깝습니다.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■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 RE:JOICE — '고객의 문제 → 콘텐츠 → 공간 → 서비스' 순서와, 실제 머무는 공간을 만든 방식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뷰티(향 · 핸드케어), F&amp;B(디저트 · 티), 리빙(캔들 · 홈프래그런스), 원데이 클래스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기분이 가라앉은 20~30대 직장인이 평일 저녁 30분 만에 기분을 바꾸는 경험형 캠페인으로 신규 회원 5,000명을 확보한다</a:t>
                      </a: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캠페인 목표와 타깃 정의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242316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주어진 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캠페인의 목표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실적 대비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평일 저녁 기분 전환 코스 참여자를 신규 회원 5,000명으로 전환한다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 → 5,000명 (2.2배)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확대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'오늘 기분' 콘텐츠로 20~30대 SNS 도달 10만을 만든다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 → 10만 (1.5배)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증대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코스와 연결된 뷰티 · F&amp;B 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만족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코스 참여 고객 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4343400"/>
          <a:ext cx="11091672" cy="1929915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타깃 세분화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연령 · 직업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27~34세 사무직 직장인 (1인 가구 포함)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22~26세 대학생 · 사회초년생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특성 · 트렌드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평일 18~21시 방문 증가, 방문 목적 '기분 전환', 짧게 머묾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SNS로 팝업을 찾아와 팝업만 보고 이동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백화점에 오지 않는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"살 게 없으면 굳이 갈 이유가 없다", 격식 있는 공간이라는 부담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팝업 말고는 머물 이유가 없다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우선순위 (1 / 2)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목표를 모두 주 목표로 삼을 수는 없습니다. 주 목표 하나와 부 목표 하나를 정하십시오.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고객 인사이트 도출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11091672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인사이트 작성 형식   "[상황]일 때  [행동]하는데  [이유] 때문에  [불만·욕구]를 느낀다"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43103"/>
              </p:ext>
            </p:extLst>
          </p:nvPr>
        </p:nvGraphicFramePr>
        <p:xfrm>
          <a:off x="548640" y="2331720"/>
          <a:ext cx="11091672" cy="26865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No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인사이트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근거 (트렌드 신호 · 데이터 · 관찰)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퇴근 후 기분이 가라앉는데 집에 가기 전 들를 곳이 없어서, 결국 편의점 디저트로 달랜다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평일 18~21시 방문 41% · 방문 목적 1위 '기분 전환' 38%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백화점은 살 게 있을 때만 가는 곳이라, 구경만 하면 눈치가 보여 오래 있지 못한다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팝업 후 다른 층 이동률 22% · 체류 시간 −14분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■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기분 전환에 돈을 쓰고 싶지만, 비싼 상품 하나보다 작은 보상 여러 개가 더 좋다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필코노미 · 프라이스 디코딩 · 현장 관찰 (소액 F&amp;B 구매)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■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인사이트 중 가장 강한 것과 그 이유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3232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13232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99632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199632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364224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경쟁사가 아직 건드리지 않은 인사이트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64224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364224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287BC776-A5A6-B60F-022A-6EF600D7FB4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 xmlns:p="http://schemas.openxmlformats.org/presentationml/2006/main" xmlns:a="http://schemas.openxmlformats.org/drawingml/2006/main">
        <p:nvSpPr>
          <p:cNvPr id="27" name="Answer 27"/>
          <p:cNvSpPr txBox="1"/>
          <p:nvPr/>
        </p:nvSpPr>
        <p:spPr>
          <a:xfrm>
            <a:off x="713232" y="5550408"/>
            <a:ext cx="5111496" cy="822960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1번 — 두 개의 데이터가 같은 상황(평일 저녁 · 기분 전환)을 가리키고, 신규 20~30대가 오는 시간대와 일치합니다.</a:t>
            </a:r>
          </a:p>
        </p:txBody>
      </p:sp>
      <p:sp xmlns:p="http://schemas.openxmlformats.org/presentationml/2006/main" xmlns:a="http://schemas.openxmlformats.org/drawingml/2006/main">
        <p:nvSpPr>
          <p:cNvPr id="28" name="Answer 28"/>
          <p:cNvSpPr txBox="1"/>
          <p:nvPr/>
        </p:nvSpPr>
        <p:spPr>
          <a:xfrm>
            <a:off x="6364224" y="5550408"/>
            <a:ext cx="5111496" cy="822960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2번 — 경쟁사는 인플루언서로 '살 이유'를 만들지만, '안 사도 와도 되는 곳'이라는 허락은 아무도 주지 않았습니다.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캠페인명과 슬로건 개발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62515"/>
              </p:ext>
            </p:extLst>
          </p:nvPr>
        </p:nvGraphicFramePr>
        <p:xfrm>
          <a:off x="548640" y="1783080"/>
          <a:ext cx="11091672" cy="1627632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선택한 트렌드 ·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필코노미 — "퇴근 후 기분이 가라앉는데, 딱히 들를 곳이 없다"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평일 저녁 30분이면 둘러볼 수 있는 향 · 디저트 · 클래스 코스와 쉬어 가는 무드 라운지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사지 않아도 기분이 바뀌어 집에 가고, 다시 오고 싶어진다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97425"/>
              </p:ext>
            </p:extLst>
          </p:nvPr>
        </p:nvGraphicFramePr>
        <p:xfrm>
          <a:off x="548640" y="3465004"/>
          <a:ext cx="11091672" cy="2057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안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안의 강점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우려되는 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MOOD SHIFT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오늘 기분, 롯데에서 바꿔요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고객의 상황(기분)과 변화(바꾼다)가 한 문장에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'바꿔요'가 교환 행사처럼 들릴 수 있음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30 MINUTES FOR ME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퇴근길 30분, 나에게 주는 선물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시간 단위가 명확, 픽셀 라이프와도 연결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'선물'이 구매로 읽혀 메시지와 충돌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롯데 무드 라운지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기분 좋아지는 곳, 롯데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공간이 한눈에 떠오름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브랜드 자랑에 가까워 고객의 변화가 약함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간결한가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46704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529584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기억하기 쉬운가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5"/>
          <p:cNvSpPr/>
          <p:nvPr/>
        </p:nvSpPr>
        <p:spPr>
          <a:xfrm>
            <a:off x="6327648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감성을 자극하는가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42832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125712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브랜드와 연결되는가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최종 선택안과 이유   A안 — 고객의 상황과 변화가 모두 들어 있고, 소리 내어 말했을 때 가장 자연스럽습니다.</a:t>
            </a:r>
            <a:endParaRPr lang="en-US" sz="1150" dirty="0"/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69A22C22-7AD8-7F92-F4A7-7A81D823EDB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브랜드 스토리텔링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377440" cy="100584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① 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고객이 직면한 현실적 또는 심리적 문제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21671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108960" y="247802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②  해결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브랜드가 제공하는 구체적 솔루션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3282696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108960" y="359359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③  고객 경험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문제 해결로 얻게 되는 긍정적 변화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439826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108960" y="4709160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48640" y="5129784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5294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④  브랜드 가치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이 과정에서 드러나는 브랜드의 가치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551383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108960" y="58247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칸을 이어서 읽었을 때 하나의 이야기로 들리는지 확인하십시오. 따로 놀면 채널마다 다른 말을 하게 됩니다.</a:t>
            </a:r>
            <a:endParaRPr lang="en-US" sz="1150" dirty="0"/>
          </a:p>
        </p:txBody>
      </p: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0F272975-82E6-A574-2C72-434193CA9A9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 xmlns:p="http://schemas.openxmlformats.org/presentationml/2006/main" xmlns:a="http://schemas.openxmlformats.org/drawingml/2006/main">
        <p:nvSpPr>
          <p:cNvPr id="39" name="Answer 39"/>
          <p:cNvSpPr txBox="1"/>
          <p:nvPr/>
        </p:nvSpPr>
        <p:spPr>
          <a:xfrm>
            <a:off x="3108960" y="1819656"/>
            <a:ext cx="8321040" cy="932688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20~30대 직장인은 퇴근 후 기분이 가라앉아도 집에 가기 전 잠깐 들러 기분을 풀 곳이 없습니다. 백화점은 '살 게 있을 때만 가는 곳'이라 부담스럽습니다.</a:t>
            </a:r>
          </a:p>
        </p:txBody>
      </p:sp>
      <p:sp xmlns:p="http://schemas.openxmlformats.org/presentationml/2006/main" xmlns:a="http://schemas.openxmlformats.org/drawingml/2006/main">
        <p:nvSpPr>
          <p:cNvPr id="40" name="Answer 40"/>
          <p:cNvSpPr txBox="1"/>
          <p:nvPr/>
        </p:nvSpPr>
        <p:spPr>
          <a:xfrm>
            <a:off x="3108960" y="2935224"/>
            <a:ext cx="8321040" cy="932688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롯데백화점은 평일 저녁 30분 '무드 시프트 코스'를 엽니다. 향 테스트, 디저트 페어링, 15분 원데이 클래스, 쉬어 가는 무드 라운지를 한 동선으로 잇습니다.</a:t>
            </a:r>
          </a:p>
        </p:txBody>
      </p:sp>
      <p:sp xmlns:p="http://schemas.openxmlformats.org/presentationml/2006/main" xmlns:a="http://schemas.openxmlformats.org/drawingml/2006/main">
        <p:nvSpPr>
          <p:cNvPr id="41" name="Answer 41"/>
          <p:cNvSpPr txBox="1"/>
          <p:nvPr/>
        </p:nvSpPr>
        <p:spPr>
          <a:xfrm>
            <a:off x="3108960" y="4050792"/>
            <a:ext cx="8321040" cy="932688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사지 않아도 기분이 바뀌어 집에 가고, 마음에 든 향과 디저트는 다음에 다시 찾으러 옵니다. 백화점이 '그냥 들러도 되는 곳'이 됩니다.</a:t>
            </a:r>
          </a:p>
        </p:txBody>
      </p:sp>
      <p:sp xmlns:p="http://schemas.openxmlformats.org/presentationml/2006/main" xmlns:a="http://schemas.openxmlformats.org/drawingml/2006/main">
        <p:nvSpPr>
          <p:cNvPr id="42" name="Answer 42"/>
          <p:cNvSpPr txBox="1"/>
          <p:nvPr/>
        </p:nvSpPr>
        <p:spPr>
          <a:xfrm>
            <a:off x="3108960" y="5166360"/>
            <a:ext cx="8321040" cy="932688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롯데백화점은 물건을 파는 곳을 넘어, 고객의 하루를 회복시키는 일상의 공간이라는 가치를 전합니다.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채널 믹스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85616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여부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채널의 역할 (인지/관심/행동/전환)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주요 콘텐츠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도달·성과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'오늘 기분 테스트'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14%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도달 6만 (광고 5만)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· 숏폼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관심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30분 코스 브이로그 숏폼 3편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조회 3만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사용 안 함 (주 타깃 연령과 다름)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인지 ·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직장인 인플루언서 20명 방문기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13%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도달 4만 · 인증 800건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전환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향 · 디저트 상품 라이브 2회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구매 전환 3%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관계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가입 즉시 코스 쿠폰 · 재방문 스탬프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재방문 30%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(팝업·포토존)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무드 라운지 · 향 테스트 · 클래스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방문 3.5만 · 가입 5천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76%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669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ko-KR" sz="10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확인 질문 답  ·  앱 푸시 · 멤버십은 2%로 낮췄습니다. 이미 우리 회원인 고객에게만 닿기 때문입니다. 인스타 오가닉 도달은 12만 × 8% ≈ 1만에 불과하므로, 목표 10만은 릴스 광고(5만)와 인플루언서(4만)로 채웁니다.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F9FDDA6-D22B-A394-8E46-0E977F0054A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IMC 고객 여정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68268"/>
              </p:ext>
            </p:extLst>
          </p:nvPr>
        </p:nvGraphicFramePr>
        <p:xfrm>
          <a:off x="548640" y="1783080"/>
          <a:ext cx="11091672" cy="3482128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 · 접점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단계에서 전달할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하는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다음 단계로 넘기는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SNS 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인스타 릴스 · 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"오늘 기분, 바꿔 볼까요?"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기분 테스트 참여 · 저장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테스트 결과별 '오늘의 코스' 링크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홈페이지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캠페인 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"오늘 기분에 맞는 30분 코스"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코스 확인 · 회원가입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가입 즉시 라운지 음료 쿠폰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백화점 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1층 아트리움 안내존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"오늘 기분, 여기서 바꿔요"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스탬프북 받기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첫 스탬프 위치로 팝업 안내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팝업스토어 체험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팝업 존 2곳 (향 · 디저트)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"기분이 바뀌는 향과 맛"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향 테스트 · 페어링 · 클래스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체험 상품을 라이브 알림으로 연결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백화점 라이브 방송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"그날 바꾼 기분, 집에서도"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체험한 향 · 디저트 구매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구매 시 L.POINT 추가 적립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멤버십 · 포인트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L.POINT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"기분 바꾼 날마다 스탬프"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스탬프 적립 · 포인트 확인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스탬프 3개 시 다음 방문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앱 푸시 · 매장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"이번 주 기분은 어떠세요?"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다른 코스로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매주 새 코스 공개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3232" y="534924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일곱 단계에서 반복되는 하나의 메시지 · 어느 단계에서 끊기는가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" y="6007608"/>
            <a:ext cx="10762488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C8D44A73-2C1B-85BA-6EB8-38BE43ED130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 xmlns:p="http://schemas.openxmlformats.org/presentationml/2006/main" xmlns:a="http://schemas.openxmlformats.org/drawingml/2006/main">
        <p:nvSpPr>
          <p:cNvPr id="19" name="Answer 19"/>
          <p:cNvSpPr txBox="1"/>
          <p:nvPr/>
        </p:nvSpPr>
        <p:spPr>
          <a:xfrm>
            <a:off x="713232" y="5678424"/>
            <a:ext cx="10762488" cy="694944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반복 메시지  오늘 기분, 롯데에서 바꿔요</a:t>
            </a:r>
          </a:p>
          <a:p>
            <a:r>
              <a:rPr lang="ko-KR" sz="1100" dirty="0">
                <a:solidFill>
                  <a:srgbClr val="1F2A44"/>
                </a:solidFill>
                <a:latin typeface="Pretendard"/>
                <a:ea typeface="Pretendard"/>
              </a:rPr>
              <a:t>끊기는 지점  5단계 라이브커머스 — 체험에서 구매로 넘어갈 때 '상품 판매' 말투로 바뀌기 쉽습니다. 라이브 대본도 '기분'으로 시작하게 맞춥니다.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운영계획 수립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61744"/>
              </p:ext>
            </p:extLst>
          </p:nvPr>
        </p:nvGraphicFramePr>
        <p:xfrm>
          <a:off x="548640" y="1783080"/>
          <a:ext cx="11091672" cy="2002535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결정 근거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 · 주요 일자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3주 운영 · 평일 18~21시 집중 · 2주차 금요일 '무드 나이트'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평일 18~21시 방문 41% (+6%p) — 퇴근 후 기분 전환 수요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장소 · 공간 배치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1층 아트리움 무드 라운지 + 팝업 존 A(향) · B(디저트), 스탬프로 뷰티 · 리빙층 연결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팝업 후 이동률 22% — 층간 이동 장치 필요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협력 브랜드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홈프래그런스 브랜드 2곳, 디저트 · 티 브랜드 2곳, 원데이 클래스 공방 1곳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소액 보상 구매가 가능한 카테고리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필요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라운지 2명 · 팝업 존별 2명 · 클래스 강사 2명 · 안내 1명 (저녁 집중)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운영 시간 집중으로 인력 효율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10288"/>
              </p:ext>
            </p:extLst>
          </p:nvPr>
        </p:nvGraphicFramePr>
        <p:xfrm>
          <a:off x="548640" y="4023360"/>
          <a:ext cx="11091672" cy="2177416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1주차 (오프닝)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(피크)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3주차 (마무리)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무드 라운지 오픈 · 향 테스트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금요일 '무드 나이트' 클래스 · 공연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인기 코스 앙코르 · 스탬프 완성 이벤트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온라인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기분 테스트 릴스 · 인플루언서 1차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인플루언서 방문기 · 라이브 1회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참여 후기 리그램 · 라이브 2회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예상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9,000명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11,000명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548640" y="631331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3주 내내 같은 강도로 운영할 수는 없습니다. 어느 주에 무엇을 집중할지 정하십시오.</a:t>
            </a:r>
            <a:endParaRPr lang="en-US" sz="11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D9DD8E58-20FA-48B6-91DC-03C3E772509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예산 배분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0840"/>
              </p:ext>
            </p:extLst>
          </p:nvPr>
        </p:nvGraphicFramePr>
        <p:xfrm>
          <a:off x="548640" y="1783080"/>
          <a:ext cx="11091672" cy="320954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세부 내역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금액으로 정한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 연출 · 팝업 조성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26%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130,000,000원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무드 라운지 · 팝업 존 2곳 · 스탬프 동선 VMD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짧게 머무는 고객을 붙잡는 핵심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콘텐츠 ·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14%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70,000,000원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15분 클래스 강사비 · 향 · 디저트 페어링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체험 자체가 캠페인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디지털 광고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릴스 광고 · 숏폼 제작 · 앱 푸시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오가닉 도달 1만으로는 목표 10만 불가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·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16%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80,000,000원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마이크로 인플루언서 20명 · 라이브 2회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팔로워보다 참여율 높은 직장인 계정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사은품 · 멤버십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50,000,000원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가입 음료 쿠폰 · 스탬프 완성 기프트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신규 가입 동기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9%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45,000,000원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저녁 피크 중심 3주 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운영 시간 집중으로 인력비 절감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예비비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25,000,000원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반응 좋은 채널에 추가 집행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2주차 성과 확인 후 재배분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실습 ⑥에서 정한 채널별 예산 비중과 이 표의 디지털·인플루언서 항목이 서로 맞는지 확인하십시오.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943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회원 5,000명 목표 기준 · 1인당 획득 비용은 얼마인가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1D39B525-E295-9B4D-0402-2C6BE14FAD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 xmlns:p="http://schemas.openxmlformats.org/presentationml/2006/main" xmlns:a="http://schemas.openxmlformats.org/drawingml/2006/main">
        <p:nvSpPr>
          <p:cNvPr id="20" name="Answer 20"/>
          <p:cNvSpPr txBox="1"/>
          <p:nvPr/>
        </p:nvSpPr>
        <p:spPr>
          <a:xfrm>
            <a:off x="713232" y="6254496"/>
            <a:ext cx="10762488" cy="246888"/>
          </a:xfrm>
          <a:prstGeom prst="rect">
            <a:avLst/>
          </a:prstGeom>
          <a:noFill/>
        </p:spPr>
        <p:txBody>
          <a:bodyPr wrap="square" lIns="45720" tIns="18288" rIns="45720" bIns="0" anchor="t">
            <a:normAutofit/>
          </a:bodyPr>
          <a:lstStyle/>
          <a:p>
            <a:r>
              <a:rPr lang="ko-KR" sz="900" dirty="0">
                <a:solidFill>
                  <a:srgbClr val="1F2A44"/>
                </a:solidFill>
                <a:latin typeface="Pretendard"/>
                <a:ea typeface="Pretendard"/>
              </a:rPr>
              <a:t>5억 ÷ 5,000명 = 1인당 10만원 (직전 캠페인: 같은 예산 ÷ 2,300명 ≈ 21.7만원 → 절반 이하로 낮춰야 함)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KPI 설정과 측정 계획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1230"/>
              </p:ext>
            </p:extLst>
          </p:nvPr>
        </p:nvGraphicFramePr>
        <p:xfrm>
          <a:off x="548640" y="1783080"/>
          <a:ext cx="11091672" cy="2514600"/>
        </p:xfrm>
        <a:graphic>
          <a:graphicData uri="http://schemas.openxmlformats.org/drawingml/2006/table">
            <a:tbl>
              <a:tblPr/>
              <a:tblGrid>
                <a:gridCol w="21305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퍼널 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 지표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대표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현재값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측정 방법 · 시점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(Awareness)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SNS 도달 · 해시태그 언급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6.5만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인스타 인사이트 · 광고 리포트, 주 1회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 (Interest)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기분 테스트 참여 · 릴스 저장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테스트 2만 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테스트 페이지 로그, 매일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(Action)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신규 회원 가입 · 코스 참여 인원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2,300명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가입 경로 코드 · 스탬프북 회수, 매일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 (Conversion)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신규 고객 구매 비중 · 코스 연계 매출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신규 40% · 매출 +25%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POS · L.POINT 데이터, 종료 직후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 (Loyalty)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30일 내 재방문율 · 만족도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30% · 85%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멤버십 데이터 · 설문, 종료 30일 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1982"/>
              </p:ext>
            </p:extLst>
          </p:nvPr>
        </p:nvGraphicFramePr>
        <p:xfrm>
          <a:off x="548640" y="4434840"/>
          <a:ext cx="11091672" cy="158191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검증 질문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답변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대비 두 배 이상인 목표를 어떻게 달성할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오가닉 도달 1만의 한계를 광고 · 인플루언서로 메우고, '안 사도 와도 되는' 평일 저녁 코스와 가입 쿠폰을 한 동선으로 이어 가입까지 연결합니다.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목표에 미달했을 때 무엇을 근거로 성과를 설명할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인지 · 행동 지표(도달, 코스 참여, 가입 경로)와 1인당 획득 비용 개선 폭(21.7만원 → 목표 10만원)으로 설명합니다.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캠페인은 브랜드 목표를 추구합니다. 매출만으로 평가하면 거의 항상 실패로 나온다는 점을 기억하십시오.</a:t>
            </a:r>
            <a:endParaRPr lang="en-US" sz="1150" dirty="0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D27FA81A-FDBD-0646-6A81-8E574CBD8BC0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캠페인 기획안 1페이지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40179"/>
              </p:ext>
            </p:extLst>
          </p:nvPr>
        </p:nvGraphicFramePr>
        <p:xfrm>
          <a:off x="548640" y="1783080"/>
          <a:ext cx="11091672" cy="3878172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가져올 워크시트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 분석과 캠페인 방향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필코노미 — 방문 목적 1위 '기분 전환' 38% · 평일 저녁 방문 41% → 경험형 (RE:JOICE 벤치마킹)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CASE ① ② · WS 01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목표 · 타깃 ·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주 목표 신규 회원 5,000명 · 타깃 27~34세 직장인 · "퇴근 후 들를 곳이 없다"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02 · 03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캠페인명과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MOOD SHIFT — "오늘 기분, 롯데에서 바꿔요"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브랜드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들를 곳 없는 퇴근길 → 30분 코스 → 안 사도 기분이 바뀜 → 하루를 회복시키는 공간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05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채널 전략과 IMC 여정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릴스 · 인플루언서 → 앱 가입 쿠폰 → 무드 라운지 · 팝업 → 라이브 → 스탬프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06 · 07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운영계획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3주 · 평일 18~21시 집중 · 2주차 금요일 '무드 나이트' 피크 · 방문 3.5만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08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예산 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5억 — 공간 26 · 콘텐츠 14 · 디지털 20 · 인플루언서·라이브 16 · 혜택 10 · 인력 9 · 예비 5 (%)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8. KPI와 기대효과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00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도달 10만 · 신규 회원 5,000명 (1인당 10만원) · 신규 고객 40% · 매출 +25% · 만족 85%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10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621792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칸이 하나의 메시지로 이어지는지 확인하십시오. 슬로건과 채널 콘텐츠가 따로 놀면 IMC가 성립하지 않습니다.</a:t>
            </a:r>
            <a:endParaRPr lang="en-US" sz="12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BC0920AF-BABB-86DC-1810-50F062616E8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발표와 상호 평가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1조          작성자   김민지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0312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발표 순서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담을 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배분 시간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트렌드와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신호 두 개로, 퇴근 후 20~30대 직장인의 '들를 곳 없음'을 보았다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캠페인명과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 — 사지 않아도 기분이 바뀌는 30분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채널 전략과 운영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· 인플루언서 → 앱 가입 → 무드 라운지 → 라이브 → 스탬프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예산과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5억으로 신규 회원 5,000명, 1인당 획득 비용 21.7만원 → 10만원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2414016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평가 항목 (각 25점)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예시 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한 줄 코멘트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· 타깃 분석의 정확성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데이터 두 개로 트렌드를 확인해 설득력 있음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컨셉의 창의성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'안 사도 되는 백화점'이라는 역발상이 차별적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통합 마케팅의 일관성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23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일곱 단계 여정 모두 '기분' 메시지 유지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실행 가능성 (예산·일정·KPI)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19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저녁 피크 인력 운영을 더 구체화할 필요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charset="0"/>
                        </a:rPr>
                        <a:t>84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6D7CB400-813E-FFDC-21F7-A8C0515B8B9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13596</TotalTime>
  <Words>8134</Words>
  <Application>Microsoft Office PowerPoint</Application>
  <PresentationFormat>사용자 지정</PresentationFormat>
  <Paragraphs>1523</Paragraphs>
  <Slides>56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5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741</cp:revision>
  <dcterms:created xsi:type="dcterms:W3CDTF">2023-03-30T02:09:27Z</dcterms:created>
  <dcterms:modified xsi:type="dcterms:W3CDTF">2026-09-27T18:24:08Z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